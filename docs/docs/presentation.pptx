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a8dfb45-1b08-57e6-ff61-8f65347e1813}">
          <p14:sldIdLst>
            <p14:sldId id="256"/>
          </p14:sldIdLst>
        </p14:section>
        <p14:section name="Problem" id="{46b2af14-72b9-83db-9ce0-0f5f0850b5ec}">
          <p14:sldIdLst>
            <p14:sldId id="257"/>
          </p14:sldIdLst>
        </p14:section>
        <p14:section name="Solution" id="{fc8e6940-95e3-76a0-04ef-d2db4e547160}">
          <p14:sldIdLst>
            <p14:sldId id="258"/>
          </p14:sldIdLst>
        </p14:section>
        <p14:section name="Architecture" id="{045903b2-9fa4-64f3-c9af-5257a9c04799}">
          <p14:sldIdLst>
            <p14:sldId id="259"/>
            <p14:sldId id="260"/>
          </p14:sldIdLst>
        </p14:section>
        <p14:section name="Conclusion" id="{aaef574e-cdf6-f399-336b-7acadc6c46d7}">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ChainTwin is a digital twin of a supply chain. It simulates a disruption, measures the impact, and recommends recovery plans that respect every hard limit. The talk follows four parts: problem, solution, architecture,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pain. Disruptions cascade, nobody can see the knock-on effects in time, and recovery plans are made by hand without checking hard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stages: model the network, simulate the disruption, optimize recovery plans, and let the manager decide. The optimizer is the heart of the solution and is explained on the workflow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Data feeds the twin, the impact engine measures the damage, the optimizer produces plans, and the dashboard is where the manager decides. The dashed box marks the layer that runs in a Web Worker.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to stress with the judges. Two rules: a plan that breaks a hard limit is rejected outright, and backup-supplier plans are only added when the manager's loss limits are breached, after which the steps re-run.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repeating the arc: problem, solution, result. The future scope items are suggestions; edit them to match your real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1F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4846320" cy="118872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548640" y="2834640"/>
            <a:ext cx="4572000" cy="109728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59436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ph idx="101" type="body" hasCustomPrompt="1"/>
          </p:nvPr>
        </p:nvSpPr>
        <p:spPr>
          <a:xfrm>
            <a:off x="457200" y="932688"/>
            <a:ext cx="8229600" cy="365760"/>
          </a:xfrm>
          <a:prstGeom prst="rect">
            <a:avLst/>
          </a:prstGeom>
          <a:noFill/>
          <a:ln/>
        </p:spPr>
        <p:txBody>
          <a:bodyPr wrap="square" rtlCol="0"/>
          <a:lstStyle>
            <a:lvl1pPr algn="l" indent="0" marL="0">
              <a:buNone/>
              <a:defRPr lang="en-US" sz="1600" dirty="0">
                <a:solidFill>
                  <a:schemeClr val="accent5"/>
                </a:solidFill>
              </a:defRPr>
            </a:lvl1pPr>
          </a:lstStyle>
          <a:p>
            <a:pPr algn="l" indent="0" marL="0">
              <a:buNone/>
            </a:pPr>
            <a:endParaRPr lang="en-US" sz="1600" dirty="0"/>
          </a:p>
        </p:txBody>
      </p:sp>
      <p:sp>
        <p:nvSpPr>
          <p:cNvPr id="4" name="Text 0"/>
          <p:cNvSpPr/>
          <p:nvPr/>
        </p:nvSpPr>
        <p:spPr>
          <a:xfrm>
            <a:off x="457200" y="4736592"/>
            <a:ext cx="2743200" cy="228600"/>
          </a:xfrm>
          <a:prstGeom prst="rect">
            <a:avLst/>
          </a:prstGeom>
          <a:noFill/>
          <a:ln/>
        </p:spPr>
        <p:txBody>
          <a:bodyPr wrap="square" lIns="0" tIns="0" rIns="0" bIns="0" rtlCol="0" anchor="ctr"/>
          <a:lstStyle/>
          <a:p>
            <a:pPr indent="0" marL="0">
              <a:buNone/>
            </a:pPr>
            <a:r>
              <a:rPr lang="en-US" sz="1000" dirty="0">
                <a:solidFill>
                  <a:schemeClr val="accent5"/>
                </a:solidFill>
              </a:rPr>
              <a:t>ChainTwin</a:t>
            </a:r>
            <a:endParaRPr lang="en-US" sz="1000" dirty="0"/>
          </a:p>
        </p:txBody>
      </p:sp>
      <p:sp>
        <p:nvSpPr>
          <p:cNvPr id="25" name="Slide Number Placeholder 0"/>
          <p:cNvSpPr>
            <a:spLocks noGrp="1"/>
          </p:cNvSpPr>
          <p:nvPr>
            <p:ph type="sldNum" sz="quarter" idx="4294967295"/>
          </p:nvPr>
        </p:nvSpPr>
        <p:spPr>
          <a:xfrm>
            <a:off x="8229600" y="473659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7C99"/>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0B1F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5943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ph idx="101" type="body" hasCustomPrompt="1"/>
          </p:nvPr>
        </p:nvSpPr>
        <p:spPr>
          <a:xfrm>
            <a:off x="457200" y="932688"/>
            <a:ext cx="8229600" cy="365760"/>
          </a:xfrm>
          <a:prstGeom prst="rect">
            <a:avLst/>
          </a:prstGeom>
          <a:noFill/>
          <a:ln/>
        </p:spPr>
        <p:txBody>
          <a:bodyPr wrap="square" rtlCol="0"/>
          <a:lstStyle>
            <a:lvl1pPr algn="l" indent="0" marL="0">
              <a:buNone/>
              <a:defRPr lang="en-US" sz="1600" dirty="0">
                <a:solidFill>
                  <a:schemeClr val="accent6"/>
                </a:solidFill>
              </a:defRPr>
            </a:lvl1pPr>
          </a:lstStyle>
          <a:p>
            <a:pPr algn="l" indent="0" marL="0">
              <a:buNone/>
            </a:pPr>
            <a:endParaRPr lang="en-US" sz="1600" dirty="0"/>
          </a:p>
        </p:txBody>
      </p:sp>
      <p:sp>
        <p:nvSpPr>
          <p:cNvPr id="4" name="Text 0"/>
          <p:cNvSpPr/>
          <p:nvPr/>
        </p:nvSpPr>
        <p:spPr>
          <a:xfrm>
            <a:off x="457200" y="4736592"/>
            <a:ext cx="2743200" cy="228600"/>
          </a:xfrm>
          <a:prstGeom prst="rect">
            <a:avLst/>
          </a:prstGeom>
          <a:noFill/>
          <a:ln/>
        </p:spPr>
        <p:txBody>
          <a:bodyPr wrap="square" lIns="0" tIns="0" rIns="0" bIns="0" rtlCol="0" anchor="ctr"/>
          <a:lstStyle/>
          <a:p>
            <a:pPr indent="0" marL="0">
              <a:buNone/>
            </a:pPr>
            <a:r>
              <a:rPr lang="en-US" sz="1000" dirty="0">
                <a:solidFill>
                  <a:schemeClr val="accent6"/>
                </a:solidFill>
              </a:rPr>
              <a:t>ChainTwin</a:t>
            </a:r>
            <a:endParaRPr lang="en-US" sz="1000" dirty="0"/>
          </a:p>
        </p:txBody>
      </p:sp>
      <p:sp>
        <p:nvSpPr>
          <p:cNvPr id="25" name="Slide Number Placeholder 0"/>
          <p:cNvSpPr>
            <a:spLocks noGrp="1"/>
          </p:cNvSpPr>
          <p:nvPr>
            <p:ph type="sldNum" sz="quarter" idx="4294967295"/>
          </p:nvPr>
        </p:nvSpPr>
        <p:spPr>
          <a:xfrm>
            <a:off x="8229600" y="473659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B8C9"/>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3659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7C9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4846320" cy="1188720"/>
          </a:xfrm>
          <a:prstGeom prst="rect">
            <a:avLst/>
          </a:prstGeom>
          <a:noFill/>
          <a:ln/>
        </p:spPr>
        <p:txBody>
          <a:bodyPr wrap="square" lIns="0" tIns="0" rIns="0" bIns="0" rtlCol="0" anchor="b"/>
          <a:lstStyle/>
          <a:p>
            <a:pPr algn="l" indent="0" marL="0">
              <a:buNone/>
            </a:pPr>
            <a:r>
              <a:rPr lang="en-US" sz="4800" b="1" dirty="0">
                <a:solidFill>
                  <a:schemeClr val="bg1"/>
                </a:solidFill>
              </a:rPr>
              <a:t>ChainTwin</a:t>
            </a:r>
            <a:endParaRPr lang="en-US" sz="4800" dirty="0"/>
          </a:p>
        </p:txBody>
      </p:sp>
      <p:sp>
        <p:nvSpPr>
          <p:cNvPr id="3" name="Text 0"/>
          <p:cNvSpPr/>
          <p:nvPr>
            <p:ph idx="101" type="body" hasCustomPrompt="1"/>
          </p:nvPr>
        </p:nvSpPr>
        <p:spPr>
          <a:xfrm>
            <a:off x="548640" y="2834640"/>
            <a:ext cx="4572000" cy="1097280"/>
          </a:xfrm>
          <a:prstGeom prst="rect">
            <a:avLst/>
          </a:prstGeom>
          <a:noFill/>
          <a:ln/>
        </p:spPr>
        <p:txBody>
          <a:bodyPr wrap="square" lIns="0" tIns="0" rIns="0" bIns="0" rtlCol="0" anchor="t"/>
          <a:lstStyle/>
          <a:p>
            <a:pPr algn="l" indent="0" marL="0">
              <a:buNone/>
            </a:pPr>
            <a:r>
              <a:rPr lang="en-US" sz="1800" dirty="0">
                <a:solidFill>
                  <a:schemeClr val="accent6"/>
                </a:solidFill>
              </a:rPr>
              <a:t>A digital twin that turns supply chain disruptions into ranked, feasible recovery plans</a:t>
            </a:r>
            <a:endParaRPr lang="en-US" sz="1800" dirty="0"/>
          </a:p>
        </p:txBody>
      </p:sp>
      <p:sp>
        <p:nvSpPr>
          <p:cNvPr id="4" name="Network link 1"/>
          <p:cNvSpPr/>
          <p:nvPr/>
        </p:nvSpPr>
        <p:spPr>
          <a:xfrm>
            <a:off x="6309360" y="1371600"/>
            <a:ext cx="914400" cy="1188720"/>
          </a:xfrm>
          <a:prstGeom prst="line">
            <a:avLst/>
          </a:prstGeom>
          <a:noFill/>
          <a:ln w="19050">
            <a:solidFill>
              <a:schemeClr val="accent5"/>
            </a:solidFill>
            <a:prstDash val="solid"/>
          </a:ln>
        </p:spPr>
      </p:sp>
      <p:sp>
        <p:nvSpPr>
          <p:cNvPr id="5" name="Network link 2"/>
          <p:cNvSpPr/>
          <p:nvPr/>
        </p:nvSpPr>
        <p:spPr>
          <a:xfrm flipV="1">
            <a:off x="7223760" y="1325880"/>
            <a:ext cx="960120" cy="1234440"/>
          </a:xfrm>
          <a:prstGeom prst="line">
            <a:avLst/>
          </a:prstGeom>
          <a:noFill/>
          <a:ln w="19050">
            <a:solidFill>
              <a:schemeClr val="accent5"/>
            </a:solidFill>
            <a:prstDash val="solid"/>
          </a:ln>
        </p:spPr>
      </p:sp>
      <p:sp>
        <p:nvSpPr>
          <p:cNvPr id="6" name="Network link 3"/>
          <p:cNvSpPr/>
          <p:nvPr/>
        </p:nvSpPr>
        <p:spPr>
          <a:xfrm flipV="1">
            <a:off x="5989320" y="2560320"/>
            <a:ext cx="1234440" cy="960120"/>
          </a:xfrm>
          <a:prstGeom prst="line">
            <a:avLst/>
          </a:prstGeom>
          <a:noFill/>
          <a:ln w="19050">
            <a:solidFill>
              <a:schemeClr val="accent5"/>
            </a:solidFill>
            <a:prstDash val="solid"/>
          </a:ln>
        </p:spPr>
      </p:sp>
      <p:sp>
        <p:nvSpPr>
          <p:cNvPr id="7" name="Network link 4"/>
          <p:cNvSpPr/>
          <p:nvPr/>
        </p:nvSpPr>
        <p:spPr>
          <a:xfrm>
            <a:off x="7223760" y="2560320"/>
            <a:ext cx="868680" cy="1188720"/>
          </a:xfrm>
          <a:prstGeom prst="line">
            <a:avLst/>
          </a:prstGeom>
          <a:noFill/>
          <a:ln w="19050">
            <a:solidFill>
              <a:schemeClr val="accent5"/>
            </a:solidFill>
            <a:prstDash val="solid"/>
          </a:ln>
        </p:spPr>
      </p:sp>
      <p:sp>
        <p:nvSpPr>
          <p:cNvPr id="8" name="Network link 5"/>
          <p:cNvSpPr/>
          <p:nvPr/>
        </p:nvSpPr>
        <p:spPr>
          <a:xfrm flipV="1">
            <a:off x="7086600" y="2560320"/>
            <a:ext cx="137160" cy="1828800"/>
          </a:xfrm>
          <a:prstGeom prst="line">
            <a:avLst/>
          </a:prstGeom>
          <a:noFill/>
          <a:ln w="19050">
            <a:solidFill>
              <a:schemeClr val="accent5"/>
            </a:solidFill>
            <a:prstDash val="solid"/>
          </a:ln>
        </p:spPr>
      </p:sp>
      <p:sp>
        <p:nvSpPr>
          <p:cNvPr id="9" name="Network node 1"/>
          <p:cNvSpPr/>
          <p:nvPr/>
        </p:nvSpPr>
        <p:spPr>
          <a:xfrm>
            <a:off x="6053328" y="1115568"/>
            <a:ext cx="512064" cy="512064"/>
          </a:xfrm>
          <a:prstGeom prst="ellipse">
            <a:avLst/>
          </a:prstGeom>
          <a:solidFill>
            <a:schemeClr val="accent1"/>
          </a:solidFill>
          <a:ln w="19050">
            <a:solidFill>
              <a:schemeClr val="bg1"/>
            </a:solidFill>
            <a:prstDash val="solid"/>
          </a:ln>
        </p:spPr>
      </p:sp>
      <p:sp>
        <p:nvSpPr>
          <p:cNvPr id="10" name="Network node 2"/>
          <p:cNvSpPr/>
          <p:nvPr/>
        </p:nvSpPr>
        <p:spPr>
          <a:xfrm>
            <a:off x="7891272" y="1033272"/>
            <a:ext cx="585216" cy="585216"/>
          </a:xfrm>
          <a:prstGeom prst="ellipse">
            <a:avLst/>
          </a:prstGeom>
          <a:solidFill>
            <a:schemeClr val="accent1"/>
          </a:solidFill>
          <a:ln w="19050">
            <a:solidFill>
              <a:schemeClr val="bg1"/>
            </a:solidFill>
            <a:prstDash val="solid"/>
          </a:ln>
        </p:spPr>
      </p:sp>
      <p:sp>
        <p:nvSpPr>
          <p:cNvPr id="11" name="Network node 3"/>
          <p:cNvSpPr/>
          <p:nvPr/>
        </p:nvSpPr>
        <p:spPr>
          <a:xfrm>
            <a:off x="5696712" y="3227832"/>
            <a:ext cx="585216" cy="585216"/>
          </a:xfrm>
          <a:prstGeom prst="ellipse">
            <a:avLst/>
          </a:prstGeom>
          <a:solidFill>
            <a:schemeClr val="accent1"/>
          </a:solidFill>
          <a:ln w="19050">
            <a:solidFill>
              <a:schemeClr val="bg1"/>
            </a:solidFill>
            <a:prstDash val="solid"/>
          </a:ln>
        </p:spPr>
      </p:sp>
      <p:sp>
        <p:nvSpPr>
          <p:cNvPr id="12" name="Network node 4"/>
          <p:cNvSpPr/>
          <p:nvPr/>
        </p:nvSpPr>
        <p:spPr>
          <a:xfrm>
            <a:off x="7854696" y="3511296"/>
            <a:ext cx="475488" cy="475488"/>
          </a:xfrm>
          <a:prstGeom prst="ellipse">
            <a:avLst/>
          </a:prstGeom>
          <a:solidFill>
            <a:schemeClr val="accent1"/>
          </a:solidFill>
          <a:ln w="19050">
            <a:solidFill>
              <a:schemeClr val="bg1"/>
            </a:solidFill>
            <a:prstDash val="solid"/>
          </a:ln>
        </p:spPr>
      </p:sp>
      <p:sp>
        <p:nvSpPr>
          <p:cNvPr id="13" name="Network node 5"/>
          <p:cNvSpPr/>
          <p:nvPr/>
        </p:nvSpPr>
        <p:spPr>
          <a:xfrm>
            <a:off x="6903720" y="4206240"/>
            <a:ext cx="365760" cy="365760"/>
          </a:xfrm>
          <a:prstGeom prst="ellipse">
            <a:avLst/>
          </a:prstGeom>
          <a:solidFill>
            <a:schemeClr val="accent1"/>
          </a:solidFill>
          <a:ln w="19050">
            <a:solidFill>
              <a:schemeClr val="bg1"/>
            </a:solidFill>
            <a:prstDash val="solid"/>
          </a:ln>
        </p:spPr>
      </p:sp>
      <p:sp>
        <p:nvSpPr>
          <p:cNvPr id="14" name="Twin hub"/>
          <p:cNvSpPr/>
          <p:nvPr/>
        </p:nvSpPr>
        <p:spPr>
          <a:xfrm>
            <a:off x="6766560" y="2103120"/>
            <a:ext cx="914400" cy="914400"/>
          </a:xfrm>
          <a:prstGeom prst="ellipse">
            <a:avLst/>
          </a:prstGeom>
          <a:solidFill>
            <a:schemeClr val="accent2"/>
          </a:solidFill>
          <a:ln w="25400">
            <a:solidFill>
              <a:schemeClr val="bg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594360"/>
          </a:xfrm>
          <a:prstGeom prst="rect">
            <a:avLst/>
          </a:prstGeom>
          <a:noFill/>
          <a:ln/>
        </p:spPr>
        <p:txBody>
          <a:bodyPr wrap="square" lIns="0" tIns="0" rIns="0" bIns="0" rtlCol="0" anchor="ctr"/>
          <a:lstStyle/>
          <a:p>
            <a:pPr algn="l" indent="0" marL="0">
              <a:buNone/>
            </a:pPr>
            <a:r>
              <a:rPr lang="en-US" sz="3400" b="1" dirty="0">
                <a:solidFill>
                  <a:schemeClr val="tx1"/>
                </a:solidFill>
              </a:rPr>
              <a:t>The Problem</a:t>
            </a:r>
            <a:endParaRPr lang="en-US" sz="3400" dirty="0"/>
          </a:p>
        </p:txBody>
      </p:sp>
      <p:sp>
        <p:nvSpPr>
          <p:cNvPr id="3" name="Text 0"/>
          <p:cNvSpPr/>
          <p:nvPr>
            <p:ph idx="101" type="body" hasCustomPrompt="1"/>
          </p:nvPr>
        </p:nvSpPr>
        <p:spPr>
          <a:xfrm>
            <a:off x="457200" y="932688"/>
            <a:ext cx="8229600" cy="365760"/>
          </a:xfrm>
          <a:prstGeom prst="rect">
            <a:avLst/>
          </a:prstGeom>
          <a:noFill/>
          <a:ln/>
        </p:spPr>
        <p:txBody>
          <a:bodyPr wrap="square" lIns="0" tIns="0" rIns="0" bIns="0" rtlCol="0" anchor="t"/>
          <a:lstStyle/>
          <a:p>
            <a:pPr algn="l" indent="0" marL="0">
              <a:buNone/>
            </a:pPr>
            <a:r>
              <a:rPr lang="en-US" sz="1600" dirty="0">
                <a:solidFill>
                  <a:schemeClr val="accent5"/>
                </a:solidFill>
              </a:rPr>
              <a:t>Supply chains are fragile, and managers usually react after the damage is done.</a:t>
            </a:r>
            <a:endParaRPr lang="en-US" sz="1600" dirty="0"/>
          </a:p>
        </p:txBody>
      </p:sp>
      <p:sp>
        <p:nvSpPr>
          <p:cNvPr id="4" name="Problem card 1"/>
          <p:cNvSpPr/>
          <p:nvPr/>
        </p:nvSpPr>
        <p:spPr>
          <a:xfrm>
            <a:off x="457200" y="1600200"/>
            <a:ext cx="2560320" cy="2514600"/>
          </a:xfrm>
          <a:prstGeom prst="roundRect">
            <a:avLst>
              <a:gd name="adj" fmla="val 3636"/>
            </a:avLst>
          </a:prstGeom>
          <a:solidFill>
            <a:schemeClr val="bg2"/>
          </a:solidFill>
          <a:ln w="12700">
            <a:solidFill>
              <a:schemeClr val="bg2"/>
            </a:solidFill>
            <a:prstDash val="solid"/>
          </a:ln>
        </p:spPr>
      </p:sp>
      <p:sp>
        <p:nvSpPr>
          <p:cNvPr id="5" name="Problem 1 badge"/>
          <p:cNvSpPr/>
          <p:nvPr/>
        </p:nvSpPr>
        <p:spPr>
          <a:xfrm>
            <a:off x="731520" y="1828800"/>
            <a:ext cx="640080" cy="640080"/>
          </a:xfrm>
          <a:prstGeom prst="ellipse">
            <a:avLst/>
          </a:prstGeom>
          <a:solidFill>
            <a:schemeClr val="accent3"/>
          </a:solidFill>
          <a:ln w="12700">
            <a:solidFill>
              <a:schemeClr val="accent3"/>
            </a:solidFill>
            <a:prstDash val="solid"/>
          </a:ln>
        </p:spPr>
      </p:sp>
      <p:pic>
        <p:nvPicPr>
          <p:cNvPr id="6" name="Problem 1 icon" descr="Problem 1">    </p:cNvPr>
          <p:cNvPicPr>
            <a:picLocks noChangeAspect="1"/>
          </p:cNvPicPr>
          <p:nvPr/>
        </p:nvPicPr>
        <p:blipFill>
          <a:blip r:embed="rId1"/>
          <a:stretch>
            <a:fillRect/>
          </a:stretch>
        </p:blipFill>
        <p:spPr>
          <a:xfrm>
            <a:off x="891540" y="1988820"/>
            <a:ext cx="320040" cy="320040"/>
          </a:xfrm>
          <a:prstGeom prst="rect">
            <a:avLst/>
          </a:prstGeom>
        </p:spPr>
      </p:pic>
      <p:sp>
        <p:nvSpPr>
          <p:cNvPr id="7" name="Problem title 1"/>
          <p:cNvSpPr txBox="1"/>
          <p:nvPr/>
        </p:nvSpPr>
        <p:spPr>
          <a:xfrm>
            <a:off x="731520" y="2651760"/>
            <a:ext cx="2011680" cy="365760"/>
          </a:xfrm>
          <a:prstGeom prst="rect">
            <a:avLst/>
          </a:prstGeom>
          <a:noFill/>
          <a:ln/>
        </p:spPr>
        <p:txBody>
          <a:bodyPr wrap="square" lIns="0" tIns="0" rIns="0" bIns="0" rtlCol="0" anchor="t"/>
          <a:lstStyle/>
          <a:p>
            <a:pPr indent="0" marL="0">
              <a:buNone/>
            </a:pPr>
            <a:r>
              <a:rPr lang="en-US" sz="1800" b="1" dirty="0">
                <a:solidFill>
                  <a:schemeClr val="tx1"/>
                </a:solidFill>
              </a:rPr>
              <a:t>Disruptions cascade</a:t>
            </a:r>
            <a:endParaRPr lang="en-US" sz="1800" dirty="0"/>
          </a:p>
        </p:txBody>
      </p:sp>
      <p:sp>
        <p:nvSpPr>
          <p:cNvPr id="8" name="Problem text 1"/>
          <p:cNvSpPr txBox="1"/>
          <p:nvPr/>
        </p:nvSpPr>
        <p:spPr>
          <a:xfrm>
            <a:off x="731520" y="3063240"/>
            <a:ext cx="2057400" cy="1143000"/>
          </a:xfrm>
          <a:prstGeom prst="rect">
            <a:avLst/>
          </a:prstGeom>
          <a:noFill/>
          <a:ln/>
        </p:spPr>
        <p:txBody>
          <a:bodyPr wrap="square" lIns="0" tIns="0" rIns="0" bIns="0" rtlCol="0" anchor="t"/>
          <a:lstStyle/>
          <a:p>
            <a:pPr indent="0" marL="0">
              <a:buNone/>
            </a:pPr>
            <a:r>
              <a:rPr lang="en-US" sz="1400" dirty="0">
                <a:solidFill>
                  <a:schemeClr val="tx2"/>
                </a:solidFill>
              </a:rPr>
              <a:t>One late supplier or blocked route ripples through stock, production and deliveries.</a:t>
            </a:r>
            <a:endParaRPr lang="en-US" sz="1400" dirty="0"/>
          </a:p>
        </p:txBody>
      </p:sp>
      <p:sp>
        <p:nvSpPr>
          <p:cNvPr id="9" name="Problem card 2"/>
          <p:cNvSpPr/>
          <p:nvPr/>
        </p:nvSpPr>
        <p:spPr>
          <a:xfrm>
            <a:off x="3291840" y="1600200"/>
            <a:ext cx="2560320" cy="2514600"/>
          </a:xfrm>
          <a:prstGeom prst="roundRect">
            <a:avLst>
              <a:gd name="adj" fmla="val 3636"/>
            </a:avLst>
          </a:prstGeom>
          <a:solidFill>
            <a:schemeClr val="bg2"/>
          </a:solidFill>
          <a:ln w="12700">
            <a:solidFill>
              <a:schemeClr val="bg2"/>
            </a:solidFill>
            <a:prstDash val="solid"/>
          </a:ln>
        </p:spPr>
      </p:sp>
      <p:sp>
        <p:nvSpPr>
          <p:cNvPr id="10" name="Problem 2 badge"/>
          <p:cNvSpPr/>
          <p:nvPr/>
        </p:nvSpPr>
        <p:spPr>
          <a:xfrm>
            <a:off x="3566160" y="1828800"/>
            <a:ext cx="640080" cy="640080"/>
          </a:xfrm>
          <a:prstGeom prst="ellipse">
            <a:avLst/>
          </a:prstGeom>
          <a:solidFill>
            <a:schemeClr val="accent5"/>
          </a:solidFill>
          <a:ln w="12700">
            <a:solidFill>
              <a:schemeClr val="accent5"/>
            </a:solidFill>
            <a:prstDash val="solid"/>
          </a:ln>
        </p:spPr>
      </p:sp>
      <p:pic>
        <p:nvPicPr>
          <p:cNvPr id="11" name="Problem 2 icon" descr="Problem 2">    </p:cNvPr>
          <p:cNvPicPr>
            <a:picLocks noChangeAspect="1"/>
          </p:cNvPicPr>
          <p:nvPr/>
        </p:nvPicPr>
        <p:blipFill>
          <a:blip r:embed="rId2"/>
          <a:stretch>
            <a:fillRect/>
          </a:stretch>
        </p:blipFill>
        <p:spPr>
          <a:xfrm>
            <a:off x="3726180" y="1988820"/>
            <a:ext cx="320040" cy="320040"/>
          </a:xfrm>
          <a:prstGeom prst="rect">
            <a:avLst/>
          </a:prstGeom>
        </p:spPr>
      </p:pic>
      <p:sp>
        <p:nvSpPr>
          <p:cNvPr id="12" name="Problem title 2"/>
          <p:cNvSpPr txBox="1"/>
          <p:nvPr/>
        </p:nvSpPr>
        <p:spPr>
          <a:xfrm>
            <a:off x="3566160" y="2651760"/>
            <a:ext cx="2011680" cy="365760"/>
          </a:xfrm>
          <a:prstGeom prst="rect">
            <a:avLst/>
          </a:prstGeom>
          <a:noFill/>
          <a:ln/>
        </p:spPr>
        <p:txBody>
          <a:bodyPr wrap="square" lIns="0" tIns="0" rIns="0" bIns="0" rtlCol="0" anchor="t"/>
          <a:lstStyle/>
          <a:p>
            <a:pPr indent="0" marL="0">
              <a:buNone/>
            </a:pPr>
            <a:r>
              <a:rPr lang="en-US" sz="1800" b="1" dirty="0">
                <a:solidFill>
                  <a:schemeClr val="tx1"/>
                </a:solidFill>
              </a:rPr>
              <a:t>Impact is invisible</a:t>
            </a:r>
            <a:endParaRPr lang="en-US" sz="1800" dirty="0"/>
          </a:p>
        </p:txBody>
      </p:sp>
      <p:sp>
        <p:nvSpPr>
          <p:cNvPr id="13" name="Problem text 2"/>
          <p:cNvSpPr txBox="1"/>
          <p:nvPr/>
        </p:nvSpPr>
        <p:spPr>
          <a:xfrm>
            <a:off x="3566160" y="3063240"/>
            <a:ext cx="2057400" cy="1143000"/>
          </a:xfrm>
          <a:prstGeom prst="rect">
            <a:avLst/>
          </a:prstGeom>
          <a:noFill/>
          <a:ln/>
        </p:spPr>
        <p:txBody>
          <a:bodyPr wrap="square" lIns="0" tIns="0" rIns="0" bIns="0" rtlCol="0" anchor="t"/>
          <a:lstStyle/>
          <a:p>
            <a:pPr indent="0" marL="0">
              <a:buNone/>
            </a:pPr>
            <a:r>
              <a:rPr lang="en-US" sz="1400" dirty="0">
                <a:solidFill>
                  <a:schemeClr val="tx2"/>
                </a:solidFill>
              </a:rPr>
              <a:t>Managers cannot see how far a disruption spreads or what it will cost until it is too late.</a:t>
            </a:r>
            <a:endParaRPr lang="en-US" sz="1400" dirty="0"/>
          </a:p>
        </p:txBody>
      </p:sp>
      <p:sp>
        <p:nvSpPr>
          <p:cNvPr id="14" name="Problem card 3"/>
          <p:cNvSpPr/>
          <p:nvPr/>
        </p:nvSpPr>
        <p:spPr>
          <a:xfrm>
            <a:off x="6126480" y="1600200"/>
            <a:ext cx="2560320" cy="2514600"/>
          </a:xfrm>
          <a:prstGeom prst="roundRect">
            <a:avLst>
              <a:gd name="adj" fmla="val 3636"/>
            </a:avLst>
          </a:prstGeom>
          <a:solidFill>
            <a:schemeClr val="bg2"/>
          </a:solidFill>
          <a:ln w="12700">
            <a:solidFill>
              <a:schemeClr val="bg2"/>
            </a:solidFill>
            <a:prstDash val="solid"/>
          </a:ln>
        </p:spPr>
      </p:sp>
      <p:sp>
        <p:nvSpPr>
          <p:cNvPr id="15" name="Problem 3 badge"/>
          <p:cNvSpPr/>
          <p:nvPr/>
        </p:nvSpPr>
        <p:spPr>
          <a:xfrm>
            <a:off x="6400800" y="1828800"/>
            <a:ext cx="640080" cy="640080"/>
          </a:xfrm>
          <a:prstGeom prst="ellipse">
            <a:avLst/>
          </a:prstGeom>
          <a:solidFill>
            <a:schemeClr val="accent1"/>
          </a:solidFill>
          <a:ln w="12700">
            <a:solidFill>
              <a:schemeClr val="accent1"/>
            </a:solidFill>
            <a:prstDash val="solid"/>
          </a:ln>
        </p:spPr>
      </p:sp>
      <p:pic>
        <p:nvPicPr>
          <p:cNvPr id="16" name="Problem 3 icon" descr="Problem 3">    </p:cNvPr>
          <p:cNvPicPr>
            <a:picLocks noChangeAspect="1"/>
          </p:cNvPicPr>
          <p:nvPr/>
        </p:nvPicPr>
        <p:blipFill>
          <a:blip r:embed="rId3"/>
          <a:stretch>
            <a:fillRect/>
          </a:stretch>
        </p:blipFill>
        <p:spPr>
          <a:xfrm>
            <a:off x="6560820" y="1988820"/>
            <a:ext cx="320040" cy="320040"/>
          </a:xfrm>
          <a:prstGeom prst="rect">
            <a:avLst/>
          </a:prstGeom>
        </p:spPr>
      </p:pic>
      <p:sp>
        <p:nvSpPr>
          <p:cNvPr id="17" name="Problem title 3"/>
          <p:cNvSpPr txBox="1"/>
          <p:nvPr/>
        </p:nvSpPr>
        <p:spPr>
          <a:xfrm>
            <a:off x="6400800" y="2651760"/>
            <a:ext cx="2011680" cy="365760"/>
          </a:xfrm>
          <a:prstGeom prst="rect">
            <a:avLst/>
          </a:prstGeom>
          <a:noFill/>
          <a:ln/>
        </p:spPr>
        <p:txBody>
          <a:bodyPr wrap="square" lIns="0" tIns="0" rIns="0" bIns="0" rtlCol="0" anchor="t"/>
          <a:lstStyle/>
          <a:p>
            <a:pPr indent="0" marL="0">
              <a:buNone/>
            </a:pPr>
            <a:r>
              <a:rPr lang="en-US" sz="1800" b="1" dirty="0">
                <a:solidFill>
                  <a:schemeClr val="tx1"/>
                </a:solidFill>
              </a:rPr>
              <a:t>Manual decisions</a:t>
            </a:r>
            <a:endParaRPr lang="en-US" sz="1800" dirty="0"/>
          </a:p>
        </p:txBody>
      </p:sp>
      <p:sp>
        <p:nvSpPr>
          <p:cNvPr id="18" name="Problem text 3"/>
          <p:cNvSpPr txBox="1"/>
          <p:nvPr/>
        </p:nvSpPr>
        <p:spPr>
          <a:xfrm>
            <a:off x="6400800" y="3063240"/>
            <a:ext cx="2057400" cy="1143000"/>
          </a:xfrm>
          <a:prstGeom prst="rect">
            <a:avLst/>
          </a:prstGeom>
          <a:noFill/>
          <a:ln/>
        </p:spPr>
        <p:txBody>
          <a:bodyPr wrap="square" lIns="0" tIns="0" rIns="0" bIns="0" rtlCol="0" anchor="t"/>
          <a:lstStyle/>
          <a:p>
            <a:pPr indent="0" marL="0">
              <a:buNone/>
            </a:pPr>
            <a:r>
              <a:rPr lang="en-US" sz="1400" dirty="0">
                <a:solidFill>
                  <a:schemeClr val="tx2"/>
                </a:solidFill>
              </a:rPr>
              <a:t>Recovery plans are built by hand and often ignore capacity, stock and route limits.</a:t>
            </a:r>
            <a:endParaRPr lang="en-US" sz="1400" dirty="0"/>
          </a:p>
        </p:txBody>
      </p:sp>
      <p:sp>
        <p:nvSpPr>
          <p:cNvPr id="25" name="Slide Number Placeholder 0"/>
          <p:cNvSpPr>
            <a:spLocks noGrp="1"/>
          </p:cNvSpPr>
          <p:nvPr>
            <p:ph type="sldNum" sz="quarter" idx="4294967295"/>
          </p:nvPr>
        </p:nvSpPr>
        <p:spPr>
          <a:xfrm>
            <a:off x="8229600" y="473659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7C99"/>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594360"/>
          </a:xfrm>
          <a:prstGeom prst="rect">
            <a:avLst/>
          </a:prstGeom>
          <a:noFill/>
          <a:ln/>
        </p:spPr>
        <p:txBody>
          <a:bodyPr wrap="square" lIns="0" tIns="0" rIns="0" bIns="0" rtlCol="0" anchor="ctr"/>
          <a:lstStyle/>
          <a:p>
            <a:pPr algn="l" indent="0" marL="0">
              <a:buNone/>
            </a:pPr>
            <a:r>
              <a:rPr lang="en-US" sz="3400" b="1" dirty="0">
                <a:solidFill>
                  <a:schemeClr val="tx1"/>
                </a:solidFill>
              </a:rPr>
              <a:t>The Solution</a:t>
            </a:r>
            <a:endParaRPr lang="en-US" sz="3400" dirty="0"/>
          </a:p>
        </p:txBody>
      </p:sp>
      <p:sp>
        <p:nvSpPr>
          <p:cNvPr id="3" name="Text 0"/>
          <p:cNvSpPr/>
          <p:nvPr>
            <p:ph idx="101" type="body" hasCustomPrompt="1"/>
          </p:nvPr>
        </p:nvSpPr>
        <p:spPr>
          <a:xfrm>
            <a:off x="457200" y="932688"/>
            <a:ext cx="8229600" cy="365760"/>
          </a:xfrm>
          <a:prstGeom prst="rect">
            <a:avLst/>
          </a:prstGeom>
          <a:noFill/>
          <a:ln/>
        </p:spPr>
        <p:txBody>
          <a:bodyPr wrap="square" lIns="0" tIns="0" rIns="0" bIns="0" rtlCol="0" anchor="t"/>
          <a:lstStyle/>
          <a:p>
            <a:pPr algn="l" indent="0" marL="0">
              <a:buNone/>
            </a:pPr>
            <a:r>
              <a:rPr lang="en-US" sz="1600" dirty="0">
                <a:solidFill>
                  <a:schemeClr val="accent5"/>
                </a:solidFill>
              </a:rPr>
              <a:t>ChainTwin simulates a disruption, then recommends plans that respect every limit.</a:t>
            </a:r>
            <a:endParaRPr lang="en-US" sz="1600" dirty="0"/>
          </a:p>
        </p:txBody>
      </p:sp>
      <p:sp>
        <p:nvSpPr>
          <p:cNvPr id="4" name="Stage 1"/>
          <p:cNvSpPr/>
          <p:nvPr/>
        </p:nvSpPr>
        <p:spPr>
          <a:xfrm>
            <a:off x="457200" y="1554480"/>
            <a:ext cx="1828800" cy="1417320"/>
          </a:xfrm>
          <a:prstGeom prst="roundRect">
            <a:avLst>
              <a:gd name="adj" fmla="val 6452"/>
            </a:avLst>
          </a:prstGeom>
          <a:solidFill>
            <a:schemeClr val="bg2"/>
          </a:solidFill>
          <a:ln w="12700">
            <a:solidFill>
              <a:schemeClr val="bg2"/>
            </a:solidFill>
            <a:prstDash val="solid"/>
          </a:ln>
        </p:spPr>
      </p:sp>
      <p:sp>
        <p:nvSpPr>
          <p:cNvPr id="5" name="Stage title 1"/>
          <p:cNvSpPr txBox="1"/>
          <p:nvPr/>
        </p:nvSpPr>
        <p:spPr>
          <a:xfrm>
            <a:off x="594360" y="1645920"/>
            <a:ext cx="1554480" cy="365760"/>
          </a:xfrm>
          <a:prstGeom prst="rect">
            <a:avLst/>
          </a:prstGeom>
          <a:noFill/>
          <a:ln/>
        </p:spPr>
        <p:txBody>
          <a:bodyPr wrap="square" lIns="0" tIns="0" rIns="0" bIns="0" rtlCol="0" anchor="t"/>
          <a:lstStyle/>
          <a:p>
            <a:pPr indent="0" marL="0">
              <a:buNone/>
            </a:pPr>
            <a:r>
              <a:rPr lang="en-US" sz="1800" b="1" dirty="0">
                <a:solidFill>
                  <a:schemeClr val="tx1"/>
                </a:solidFill>
              </a:rPr>
              <a:t>1  Model</a:t>
            </a:r>
            <a:endParaRPr lang="en-US" sz="1800" dirty="0"/>
          </a:p>
        </p:txBody>
      </p:sp>
      <p:sp>
        <p:nvSpPr>
          <p:cNvPr id="6" name="Stage text 1"/>
          <p:cNvSpPr txBox="1"/>
          <p:nvPr/>
        </p:nvSpPr>
        <p:spPr>
          <a:xfrm>
            <a:off x="594360" y="2057400"/>
            <a:ext cx="1554480" cy="822960"/>
          </a:xfrm>
          <a:prstGeom prst="rect">
            <a:avLst/>
          </a:prstGeom>
          <a:noFill/>
          <a:ln/>
        </p:spPr>
        <p:txBody>
          <a:bodyPr wrap="square" lIns="0" tIns="0" rIns="0" bIns="0" rtlCol="0" anchor="t"/>
          <a:lstStyle/>
          <a:p>
            <a:pPr indent="0" marL="0">
              <a:buNone/>
            </a:pPr>
            <a:r>
              <a:rPr lang="en-US" sz="1400" dirty="0">
                <a:solidFill>
                  <a:schemeClr val="tx1"/>
                </a:solidFill>
              </a:rPr>
              <a:t>Mirror suppliers, stock and routes</a:t>
            </a:r>
            <a:endParaRPr lang="en-US" sz="1400" dirty="0"/>
          </a:p>
        </p:txBody>
      </p:sp>
      <p:sp>
        <p:nvSpPr>
          <p:cNvPr id="7" name="Stage arrow 1"/>
          <p:cNvSpPr/>
          <p:nvPr/>
        </p:nvSpPr>
        <p:spPr>
          <a:xfrm>
            <a:off x="2304288" y="2263140"/>
            <a:ext cx="265176" cy="0"/>
          </a:xfrm>
          <a:prstGeom prst="line">
            <a:avLst/>
          </a:prstGeom>
          <a:noFill/>
          <a:ln w="25400">
            <a:solidFill>
              <a:schemeClr val="accent5"/>
            </a:solidFill>
            <a:prstDash val="solid"/>
            <a:tailEnd type="triangle"/>
          </a:ln>
        </p:spPr>
      </p:sp>
      <p:sp>
        <p:nvSpPr>
          <p:cNvPr id="8" name="Stage 2"/>
          <p:cNvSpPr/>
          <p:nvPr/>
        </p:nvSpPr>
        <p:spPr>
          <a:xfrm>
            <a:off x="2587752" y="1554480"/>
            <a:ext cx="1828800" cy="1417320"/>
          </a:xfrm>
          <a:prstGeom prst="roundRect">
            <a:avLst>
              <a:gd name="adj" fmla="val 6452"/>
            </a:avLst>
          </a:prstGeom>
          <a:solidFill>
            <a:schemeClr val="bg2"/>
          </a:solidFill>
          <a:ln w="12700">
            <a:solidFill>
              <a:schemeClr val="bg2"/>
            </a:solidFill>
            <a:prstDash val="solid"/>
          </a:ln>
        </p:spPr>
      </p:sp>
      <p:sp>
        <p:nvSpPr>
          <p:cNvPr id="9" name="Stage title 2"/>
          <p:cNvSpPr txBox="1"/>
          <p:nvPr/>
        </p:nvSpPr>
        <p:spPr>
          <a:xfrm>
            <a:off x="2724912" y="1645920"/>
            <a:ext cx="1554480" cy="365760"/>
          </a:xfrm>
          <a:prstGeom prst="rect">
            <a:avLst/>
          </a:prstGeom>
          <a:noFill/>
          <a:ln/>
        </p:spPr>
        <p:txBody>
          <a:bodyPr wrap="square" lIns="0" tIns="0" rIns="0" bIns="0" rtlCol="0" anchor="t"/>
          <a:lstStyle/>
          <a:p>
            <a:pPr indent="0" marL="0">
              <a:buNone/>
            </a:pPr>
            <a:r>
              <a:rPr lang="en-US" sz="1800" b="1" dirty="0">
                <a:solidFill>
                  <a:schemeClr val="tx1"/>
                </a:solidFill>
              </a:rPr>
              <a:t>2  Simulate</a:t>
            </a:r>
            <a:endParaRPr lang="en-US" sz="1800" dirty="0"/>
          </a:p>
        </p:txBody>
      </p:sp>
      <p:sp>
        <p:nvSpPr>
          <p:cNvPr id="10" name="Stage text 2"/>
          <p:cNvSpPr txBox="1"/>
          <p:nvPr/>
        </p:nvSpPr>
        <p:spPr>
          <a:xfrm>
            <a:off x="2724912" y="2057400"/>
            <a:ext cx="1554480" cy="822960"/>
          </a:xfrm>
          <a:prstGeom prst="rect">
            <a:avLst/>
          </a:prstGeom>
          <a:noFill/>
          <a:ln/>
        </p:spPr>
        <p:txBody>
          <a:bodyPr wrap="square" lIns="0" tIns="0" rIns="0" bIns="0" rtlCol="0" anchor="t"/>
          <a:lstStyle/>
          <a:p>
            <a:pPr indent="0" marL="0">
              <a:buNone/>
            </a:pPr>
            <a:r>
              <a:rPr lang="en-US" sz="1400" dirty="0">
                <a:solidFill>
                  <a:schemeClr val="tx1"/>
                </a:solidFill>
              </a:rPr>
              <a:t>Replay the disruption and measure impact</a:t>
            </a:r>
            <a:endParaRPr lang="en-US" sz="1400" dirty="0"/>
          </a:p>
        </p:txBody>
      </p:sp>
      <p:sp>
        <p:nvSpPr>
          <p:cNvPr id="11" name="Stage arrow 2"/>
          <p:cNvSpPr/>
          <p:nvPr/>
        </p:nvSpPr>
        <p:spPr>
          <a:xfrm>
            <a:off x="4434840" y="2263140"/>
            <a:ext cx="265176" cy="0"/>
          </a:xfrm>
          <a:prstGeom prst="line">
            <a:avLst/>
          </a:prstGeom>
          <a:noFill/>
          <a:ln w="25400">
            <a:solidFill>
              <a:schemeClr val="accent5"/>
            </a:solidFill>
            <a:prstDash val="solid"/>
            <a:tailEnd type="triangle"/>
          </a:ln>
        </p:spPr>
      </p:sp>
      <p:sp>
        <p:nvSpPr>
          <p:cNvPr id="12" name="Stage 3"/>
          <p:cNvSpPr/>
          <p:nvPr/>
        </p:nvSpPr>
        <p:spPr>
          <a:xfrm>
            <a:off x="4718304" y="1554480"/>
            <a:ext cx="1828800" cy="1417320"/>
          </a:xfrm>
          <a:prstGeom prst="roundRect">
            <a:avLst>
              <a:gd name="adj" fmla="val 6452"/>
            </a:avLst>
          </a:prstGeom>
          <a:solidFill>
            <a:schemeClr val="accent2"/>
          </a:solidFill>
          <a:ln w="12700">
            <a:solidFill>
              <a:schemeClr val="accent2"/>
            </a:solidFill>
            <a:prstDash val="solid"/>
          </a:ln>
        </p:spPr>
      </p:sp>
      <p:sp>
        <p:nvSpPr>
          <p:cNvPr id="13" name="Stage title 3"/>
          <p:cNvSpPr txBox="1"/>
          <p:nvPr/>
        </p:nvSpPr>
        <p:spPr>
          <a:xfrm>
            <a:off x="4855464" y="1645920"/>
            <a:ext cx="1554480" cy="365760"/>
          </a:xfrm>
          <a:prstGeom prst="rect">
            <a:avLst/>
          </a:prstGeom>
          <a:noFill/>
          <a:ln/>
        </p:spPr>
        <p:txBody>
          <a:bodyPr wrap="square" lIns="0" tIns="0" rIns="0" bIns="0" rtlCol="0" anchor="t"/>
          <a:lstStyle/>
          <a:p>
            <a:pPr indent="0" marL="0">
              <a:buNone/>
            </a:pPr>
            <a:r>
              <a:rPr lang="en-US" sz="1800" b="1" dirty="0">
                <a:solidFill>
                  <a:schemeClr val="tx1"/>
                </a:solidFill>
              </a:rPr>
              <a:t>3  Optimize</a:t>
            </a:r>
            <a:endParaRPr lang="en-US" sz="1800" dirty="0"/>
          </a:p>
        </p:txBody>
      </p:sp>
      <p:sp>
        <p:nvSpPr>
          <p:cNvPr id="14" name="Stage text 3"/>
          <p:cNvSpPr txBox="1"/>
          <p:nvPr/>
        </p:nvSpPr>
        <p:spPr>
          <a:xfrm>
            <a:off x="4855464" y="2057400"/>
            <a:ext cx="1554480" cy="822960"/>
          </a:xfrm>
          <a:prstGeom prst="rect">
            <a:avLst/>
          </a:prstGeom>
          <a:noFill/>
          <a:ln/>
        </p:spPr>
        <p:txBody>
          <a:bodyPr wrap="square" lIns="0" tIns="0" rIns="0" bIns="0" rtlCol="0" anchor="t"/>
          <a:lstStyle/>
          <a:p>
            <a:pPr indent="0" marL="0">
              <a:buNone/>
            </a:pPr>
            <a:r>
              <a:rPr lang="en-US" sz="1400" dirty="0">
                <a:solidFill>
                  <a:schemeClr val="tx1"/>
                </a:solidFill>
              </a:rPr>
              <a:t>Search feasible recovery plans</a:t>
            </a:r>
            <a:endParaRPr lang="en-US" sz="1400" dirty="0"/>
          </a:p>
        </p:txBody>
      </p:sp>
      <p:sp>
        <p:nvSpPr>
          <p:cNvPr id="15" name="Stage arrow 3"/>
          <p:cNvSpPr/>
          <p:nvPr/>
        </p:nvSpPr>
        <p:spPr>
          <a:xfrm>
            <a:off x="6565392" y="2263140"/>
            <a:ext cx="265176" cy="0"/>
          </a:xfrm>
          <a:prstGeom prst="line">
            <a:avLst/>
          </a:prstGeom>
          <a:noFill/>
          <a:ln w="25400">
            <a:solidFill>
              <a:schemeClr val="accent5"/>
            </a:solidFill>
            <a:prstDash val="solid"/>
            <a:tailEnd type="triangle"/>
          </a:ln>
        </p:spPr>
      </p:sp>
      <p:sp>
        <p:nvSpPr>
          <p:cNvPr id="16" name="Stage 4"/>
          <p:cNvSpPr/>
          <p:nvPr/>
        </p:nvSpPr>
        <p:spPr>
          <a:xfrm>
            <a:off x="6848856" y="1554480"/>
            <a:ext cx="1828800" cy="1417320"/>
          </a:xfrm>
          <a:prstGeom prst="roundRect">
            <a:avLst>
              <a:gd name="adj" fmla="val 6452"/>
            </a:avLst>
          </a:prstGeom>
          <a:solidFill>
            <a:schemeClr val="bg2"/>
          </a:solidFill>
          <a:ln w="12700">
            <a:solidFill>
              <a:schemeClr val="bg2"/>
            </a:solidFill>
            <a:prstDash val="solid"/>
          </a:ln>
        </p:spPr>
      </p:sp>
      <p:sp>
        <p:nvSpPr>
          <p:cNvPr id="17" name="Stage title 4"/>
          <p:cNvSpPr txBox="1"/>
          <p:nvPr/>
        </p:nvSpPr>
        <p:spPr>
          <a:xfrm>
            <a:off x="6986016" y="1645920"/>
            <a:ext cx="1554480" cy="365760"/>
          </a:xfrm>
          <a:prstGeom prst="rect">
            <a:avLst/>
          </a:prstGeom>
          <a:noFill/>
          <a:ln/>
        </p:spPr>
        <p:txBody>
          <a:bodyPr wrap="square" lIns="0" tIns="0" rIns="0" bIns="0" rtlCol="0" anchor="t"/>
          <a:lstStyle/>
          <a:p>
            <a:pPr indent="0" marL="0">
              <a:buNone/>
            </a:pPr>
            <a:r>
              <a:rPr lang="en-US" sz="1800" b="1" dirty="0">
                <a:solidFill>
                  <a:schemeClr val="tx1"/>
                </a:solidFill>
              </a:rPr>
              <a:t>4  Decide</a:t>
            </a:r>
            <a:endParaRPr lang="en-US" sz="1800" dirty="0"/>
          </a:p>
        </p:txBody>
      </p:sp>
      <p:sp>
        <p:nvSpPr>
          <p:cNvPr id="18" name="Stage text 4"/>
          <p:cNvSpPr txBox="1"/>
          <p:nvPr/>
        </p:nvSpPr>
        <p:spPr>
          <a:xfrm>
            <a:off x="6986016" y="2057400"/>
            <a:ext cx="1554480" cy="822960"/>
          </a:xfrm>
          <a:prstGeom prst="rect">
            <a:avLst/>
          </a:prstGeom>
          <a:noFill/>
          <a:ln/>
        </p:spPr>
        <p:txBody>
          <a:bodyPr wrap="square" lIns="0" tIns="0" rIns="0" bIns="0" rtlCol="0" anchor="t"/>
          <a:lstStyle/>
          <a:p>
            <a:pPr indent="0" marL="0">
              <a:buNone/>
            </a:pPr>
            <a:r>
              <a:rPr lang="en-US" sz="1400" dirty="0">
                <a:solidFill>
                  <a:schemeClr val="tx1"/>
                </a:solidFill>
              </a:rPr>
              <a:t>Manager picks within loss limits</a:t>
            </a:r>
            <a:endParaRPr lang="en-US" sz="1400" dirty="0"/>
          </a:p>
        </p:txBody>
      </p:sp>
      <p:sp>
        <p:nvSpPr>
          <p:cNvPr id="19" name="Benefit card 1"/>
          <p:cNvSpPr/>
          <p:nvPr/>
        </p:nvSpPr>
        <p:spPr>
          <a:xfrm>
            <a:off x="457200" y="3291840"/>
            <a:ext cx="2560320" cy="1280160"/>
          </a:xfrm>
          <a:prstGeom prst="roundRect">
            <a:avLst>
              <a:gd name="adj" fmla="val 7143"/>
            </a:avLst>
          </a:prstGeom>
          <a:solidFill>
            <a:schemeClr val="bg1"/>
          </a:solidFill>
          <a:ln w="12700">
            <a:solidFill>
              <a:schemeClr val="accent6"/>
            </a:solidFill>
            <a:prstDash val="solid"/>
          </a:ln>
        </p:spPr>
      </p:sp>
      <p:sp>
        <p:nvSpPr>
          <p:cNvPr id="20" name="Benefit 1 badge"/>
          <p:cNvSpPr/>
          <p:nvPr/>
        </p:nvSpPr>
        <p:spPr>
          <a:xfrm>
            <a:off x="640080" y="3474720"/>
            <a:ext cx="457200" cy="457200"/>
          </a:xfrm>
          <a:prstGeom prst="ellipse">
            <a:avLst/>
          </a:prstGeom>
          <a:solidFill>
            <a:schemeClr val="accent1"/>
          </a:solidFill>
          <a:ln w="12700">
            <a:solidFill>
              <a:schemeClr val="accent1"/>
            </a:solidFill>
            <a:prstDash val="solid"/>
          </a:ln>
        </p:spPr>
      </p:sp>
      <p:pic>
        <p:nvPicPr>
          <p:cNvPr id="21" name="Benefit 1 icon" descr="Benefit 1">    </p:cNvPr>
          <p:cNvPicPr>
            <a:picLocks noChangeAspect="1"/>
          </p:cNvPicPr>
          <p:nvPr/>
        </p:nvPicPr>
        <p:blipFill>
          <a:blip r:embed="rId1"/>
          <a:stretch>
            <a:fillRect/>
          </a:stretch>
        </p:blipFill>
        <p:spPr>
          <a:xfrm>
            <a:off x="754380" y="3589020"/>
            <a:ext cx="228600" cy="228600"/>
          </a:xfrm>
          <a:prstGeom prst="rect">
            <a:avLst/>
          </a:prstGeom>
        </p:spPr>
      </p:pic>
      <p:sp>
        <p:nvSpPr>
          <p:cNvPr id="22" name="Benefit title 1"/>
          <p:cNvSpPr txBox="1"/>
          <p:nvPr/>
        </p:nvSpPr>
        <p:spPr>
          <a:xfrm>
            <a:off x="1234440" y="3456432"/>
            <a:ext cx="1691640" cy="502920"/>
          </a:xfrm>
          <a:prstGeom prst="rect">
            <a:avLst/>
          </a:prstGeom>
          <a:noFill/>
          <a:ln/>
        </p:spPr>
        <p:txBody>
          <a:bodyPr wrap="square" lIns="0" tIns="0" rIns="0" bIns="0" rtlCol="0" anchor="ctr"/>
          <a:lstStyle/>
          <a:p>
            <a:pPr algn="l" indent="0" marL="0">
              <a:buNone/>
            </a:pPr>
            <a:r>
              <a:rPr lang="en-US" sz="1600" b="1" dirty="0">
                <a:solidFill>
                  <a:schemeClr val="tx1"/>
                </a:solidFill>
              </a:rPr>
              <a:t>Impact at a glance</a:t>
            </a:r>
            <a:endParaRPr lang="en-US" sz="1600" dirty="0"/>
          </a:p>
        </p:txBody>
      </p:sp>
      <p:sp>
        <p:nvSpPr>
          <p:cNvPr id="23" name="Benefit text 1"/>
          <p:cNvSpPr txBox="1"/>
          <p:nvPr/>
        </p:nvSpPr>
        <p:spPr>
          <a:xfrm>
            <a:off x="640080" y="4005072"/>
            <a:ext cx="2240280" cy="502920"/>
          </a:xfrm>
          <a:prstGeom prst="rect">
            <a:avLst/>
          </a:prstGeom>
          <a:noFill/>
          <a:ln/>
        </p:spPr>
        <p:txBody>
          <a:bodyPr wrap="square" lIns="0" tIns="0" rIns="0" bIns="0" rtlCol="0" anchor="t"/>
          <a:lstStyle/>
          <a:p>
            <a:pPr indent="0" marL="0">
              <a:buNone/>
            </a:pPr>
            <a:r>
              <a:rPr lang="en-US" sz="1200" dirty="0">
                <a:solidFill>
                  <a:schemeClr val="tx2"/>
                </a:solidFill>
              </a:rPr>
              <a:t>See what a disruption affects before it happens.</a:t>
            </a:r>
            <a:endParaRPr lang="en-US" sz="1200" dirty="0"/>
          </a:p>
        </p:txBody>
      </p:sp>
      <p:sp>
        <p:nvSpPr>
          <p:cNvPr id="24" name="Benefit card 2"/>
          <p:cNvSpPr/>
          <p:nvPr/>
        </p:nvSpPr>
        <p:spPr>
          <a:xfrm>
            <a:off x="3291840" y="3291840"/>
            <a:ext cx="2560320" cy="1280160"/>
          </a:xfrm>
          <a:prstGeom prst="roundRect">
            <a:avLst>
              <a:gd name="adj" fmla="val 7143"/>
            </a:avLst>
          </a:prstGeom>
          <a:solidFill>
            <a:schemeClr val="bg1"/>
          </a:solidFill>
          <a:ln w="12700">
            <a:solidFill>
              <a:schemeClr val="accent6"/>
            </a:solidFill>
            <a:prstDash val="solid"/>
          </a:ln>
        </p:spPr>
      </p:sp>
      <p:sp>
        <p:nvSpPr>
          <p:cNvPr id="25" name="Benefit 2 badge"/>
          <p:cNvSpPr/>
          <p:nvPr/>
        </p:nvSpPr>
        <p:spPr>
          <a:xfrm>
            <a:off x="3474720" y="3474720"/>
            <a:ext cx="457200" cy="457200"/>
          </a:xfrm>
          <a:prstGeom prst="ellipse">
            <a:avLst/>
          </a:prstGeom>
          <a:solidFill>
            <a:schemeClr val="accent1"/>
          </a:solidFill>
          <a:ln w="12700">
            <a:solidFill>
              <a:schemeClr val="accent1"/>
            </a:solidFill>
            <a:prstDash val="solid"/>
          </a:ln>
        </p:spPr>
      </p:sp>
      <p:pic>
        <p:nvPicPr>
          <p:cNvPr id="26" name="Benefit 2 icon" descr="Benefit 2">    </p:cNvPr>
          <p:cNvPicPr>
            <a:picLocks noChangeAspect="1"/>
          </p:cNvPicPr>
          <p:nvPr/>
        </p:nvPicPr>
        <p:blipFill>
          <a:blip r:embed="rId2"/>
          <a:stretch>
            <a:fillRect/>
          </a:stretch>
        </p:blipFill>
        <p:spPr>
          <a:xfrm>
            <a:off x="3589020" y="3589020"/>
            <a:ext cx="228600" cy="228600"/>
          </a:xfrm>
          <a:prstGeom prst="rect">
            <a:avLst/>
          </a:prstGeom>
        </p:spPr>
      </p:pic>
      <p:sp>
        <p:nvSpPr>
          <p:cNvPr id="27" name="Benefit title 2"/>
          <p:cNvSpPr txBox="1"/>
          <p:nvPr/>
        </p:nvSpPr>
        <p:spPr>
          <a:xfrm>
            <a:off x="4069080" y="3456432"/>
            <a:ext cx="1691640" cy="502920"/>
          </a:xfrm>
          <a:prstGeom prst="rect">
            <a:avLst/>
          </a:prstGeom>
          <a:noFill/>
          <a:ln/>
        </p:spPr>
        <p:txBody>
          <a:bodyPr wrap="square" lIns="0" tIns="0" rIns="0" bIns="0" rtlCol="0" anchor="ctr"/>
          <a:lstStyle/>
          <a:p>
            <a:pPr algn="l" indent="0" marL="0">
              <a:buNone/>
            </a:pPr>
            <a:r>
              <a:rPr lang="en-US" sz="1600" b="1" dirty="0">
                <a:solidFill>
                  <a:schemeClr val="tx1"/>
                </a:solidFill>
              </a:rPr>
              <a:t>Only feasible plans</a:t>
            </a:r>
            <a:endParaRPr lang="en-US" sz="1600" dirty="0"/>
          </a:p>
        </p:txBody>
      </p:sp>
      <p:sp>
        <p:nvSpPr>
          <p:cNvPr id="28" name="Benefit text 2"/>
          <p:cNvSpPr txBox="1"/>
          <p:nvPr/>
        </p:nvSpPr>
        <p:spPr>
          <a:xfrm>
            <a:off x="3474720" y="4005072"/>
            <a:ext cx="2240280" cy="502920"/>
          </a:xfrm>
          <a:prstGeom prst="rect">
            <a:avLst/>
          </a:prstGeom>
          <a:noFill/>
          <a:ln/>
        </p:spPr>
        <p:txBody>
          <a:bodyPr wrap="square" lIns="0" tIns="0" rIns="0" bIns="0" rtlCol="0" anchor="t"/>
          <a:lstStyle/>
          <a:p>
            <a:pPr indent="0" marL="0">
              <a:buNone/>
            </a:pPr>
            <a:r>
              <a:rPr lang="en-US" sz="1200" dirty="0">
                <a:solidFill>
                  <a:schemeClr val="tx2"/>
                </a:solidFill>
              </a:rPr>
              <a:t>Plans that break capacity, stock or route limits are dropped.</a:t>
            </a:r>
            <a:endParaRPr lang="en-US" sz="1200" dirty="0"/>
          </a:p>
        </p:txBody>
      </p:sp>
      <p:sp>
        <p:nvSpPr>
          <p:cNvPr id="29" name="Benefit card 3"/>
          <p:cNvSpPr/>
          <p:nvPr/>
        </p:nvSpPr>
        <p:spPr>
          <a:xfrm>
            <a:off x="6126480" y="3291840"/>
            <a:ext cx="2560320" cy="1280160"/>
          </a:xfrm>
          <a:prstGeom prst="roundRect">
            <a:avLst>
              <a:gd name="adj" fmla="val 7143"/>
            </a:avLst>
          </a:prstGeom>
          <a:solidFill>
            <a:schemeClr val="bg1"/>
          </a:solidFill>
          <a:ln w="12700">
            <a:solidFill>
              <a:schemeClr val="accent6"/>
            </a:solidFill>
            <a:prstDash val="solid"/>
          </a:ln>
        </p:spPr>
      </p:sp>
      <p:sp>
        <p:nvSpPr>
          <p:cNvPr id="30" name="Benefit 3 badge"/>
          <p:cNvSpPr/>
          <p:nvPr/>
        </p:nvSpPr>
        <p:spPr>
          <a:xfrm>
            <a:off x="6309360" y="3474720"/>
            <a:ext cx="457200" cy="457200"/>
          </a:xfrm>
          <a:prstGeom prst="ellipse">
            <a:avLst/>
          </a:prstGeom>
          <a:solidFill>
            <a:schemeClr val="accent1"/>
          </a:solidFill>
          <a:ln w="12700">
            <a:solidFill>
              <a:schemeClr val="accent1"/>
            </a:solidFill>
            <a:prstDash val="solid"/>
          </a:ln>
        </p:spPr>
      </p:sp>
      <p:pic>
        <p:nvPicPr>
          <p:cNvPr id="31" name="Benefit 3 icon" descr="Benefit 3">    </p:cNvPr>
          <p:cNvPicPr>
            <a:picLocks noChangeAspect="1"/>
          </p:cNvPicPr>
          <p:nvPr/>
        </p:nvPicPr>
        <p:blipFill>
          <a:blip r:embed="rId3"/>
          <a:stretch>
            <a:fillRect/>
          </a:stretch>
        </p:blipFill>
        <p:spPr>
          <a:xfrm>
            <a:off x="6423660" y="3589020"/>
            <a:ext cx="228600" cy="228600"/>
          </a:xfrm>
          <a:prstGeom prst="rect">
            <a:avLst/>
          </a:prstGeom>
        </p:spPr>
      </p:pic>
      <p:sp>
        <p:nvSpPr>
          <p:cNvPr id="32" name="Benefit title 3"/>
          <p:cNvSpPr txBox="1"/>
          <p:nvPr/>
        </p:nvSpPr>
        <p:spPr>
          <a:xfrm>
            <a:off x="6903720" y="3456432"/>
            <a:ext cx="1691640" cy="502920"/>
          </a:xfrm>
          <a:prstGeom prst="rect">
            <a:avLst/>
          </a:prstGeom>
          <a:noFill/>
          <a:ln/>
        </p:spPr>
        <p:txBody>
          <a:bodyPr wrap="square" lIns="0" tIns="0" rIns="0" bIns="0" rtlCol="0" anchor="ctr"/>
          <a:lstStyle/>
          <a:p>
            <a:pPr algn="l" indent="0" marL="0">
              <a:buNone/>
            </a:pPr>
            <a:r>
              <a:rPr lang="en-US" sz="1600" b="1" dirty="0">
                <a:solidFill>
                  <a:schemeClr val="tx1"/>
                </a:solidFill>
              </a:rPr>
              <a:t>Backup options</a:t>
            </a:r>
            <a:endParaRPr lang="en-US" sz="1600" dirty="0"/>
          </a:p>
        </p:txBody>
      </p:sp>
      <p:sp>
        <p:nvSpPr>
          <p:cNvPr id="33" name="Benefit text 3"/>
          <p:cNvSpPr txBox="1"/>
          <p:nvPr/>
        </p:nvSpPr>
        <p:spPr>
          <a:xfrm>
            <a:off x="6309360" y="4005072"/>
            <a:ext cx="2240280" cy="502920"/>
          </a:xfrm>
          <a:prstGeom prst="rect">
            <a:avLst/>
          </a:prstGeom>
          <a:noFill/>
          <a:ln/>
        </p:spPr>
        <p:txBody>
          <a:bodyPr wrap="square" lIns="0" tIns="0" rIns="0" bIns="0" rtlCol="0" anchor="t"/>
          <a:lstStyle/>
          <a:p>
            <a:pPr indent="0" marL="0">
              <a:buNone/>
            </a:pPr>
            <a:r>
              <a:rPr lang="en-US" sz="1200" dirty="0">
                <a:solidFill>
                  <a:schemeClr val="tx2"/>
                </a:solidFill>
              </a:rPr>
              <a:t>Backup-supplier plans appear when loss limits are breached.</a:t>
            </a:r>
            <a:endParaRPr lang="en-US" sz="1200" dirty="0"/>
          </a:p>
        </p:txBody>
      </p:sp>
      <p:sp>
        <p:nvSpPr>
          <p:cNvPr id="25" name="Slide Number Placeholder 0"/>
          <p:cNvSpPr>
            <a:spLocks noGrp="1"/>
          </p:cNvSpPr>
          <p:nvPr>
            <p:ph type="sldNum" sz="quarter" idx="4294967295"/>
          </p:nvPr>
        </p:nvSpPr>
        <p:spPr>
          <a:xfrm>
            <a:off x="8229600" y="473659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7C99"/>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594360"/>
          </a:xfrm>
          <a:prstGeom prst="rect">
            <a:avLst/>
          </a:prstGeom>
          <a:noFill/>
          <a:ln/>
        </p:spPr>
        <p:txBody>
          <a:bodyPr wrap="square" lIns="0" tIns="0" rIns="0" bIns="0" rtlCol="0" anchor="ctr"/>
          <a:lstStyle/>
          <a:p>
            <a:pPr algn="l" indent="0" marL="0">
              <a:buNone/>
            </a:pPr>
            <a:r>
              <a:rPr lang="en-US" sz="3400" b="1" dirty="0">
                <a:solidFill>
                  <a:schemeClr val="tx1"/>
                </a:solidFill>
              </a:rPr>
              <a:t>System Architecture</a:t>
            </a:r>
            <a:endParaRPr lang="en-US" sz="3400" dirty="0"/>
          </a:p>
        </p:txBody>
      </p:sp>
      <p:sp>
        <p:nvSpPr>
          <p:cNvPr id="3" name="Text 0"/>
          <p:cNvSpPr/>
          <p:nvPr>
            <p:ph idx="101" type="body" hasCustomPrompt="1"/>
          </p:nvPr>
        </p:nvSpPr>
        <p:spPr>
          <a:xfrm>
            <a:off x="457200" y="932688"/>
            <a:ext cx="8229600" cy="365760"/>
          </a:xfrm>
          <a:prstGeom prst="rect">
            <a:avLst/>
          </a:prstGeom>
          <a:noFill/>
          <a:ln/>
        </p:spPr>
        <p:txBody>
          <a:bodyPr wrap="square" lIns="0" tIns="0" rIns="0" bIns="0" rtlCol="0" anchor="t"/>
          <a:lstStyle/>
          <a:p>
            <a:pPr algn="l" indent="0" marL="0">
              <a:buNone/>
            </a:pPr>
            <a:r>
              <a:rPr lang="en-US" sz="1600" dirty="0">
                <a:solidFill>
                  <a:schemeClr val="accent5"/>
                </a:solidFill>
              </a:rPr>
              <a:t>Five layers take raw supply chain data to a decision the manager can act on.</a:t>
            </a:r>
            <a:endParaRPr lang="en-US" sz="1600" dirty="0"/>
          </a:p>
        </p:txBody>
      </p:sp>
      <p:sp>
        <p:nvSpPr>
          <p:cNvPr id="4" name="Layer 1"/>
          <p:cNvSpPr/>
          <p:nvPr/>
        </p:nvSpPr>
        <p:spPr>
          <a:xfrm>
            <a:off x="457200" y="1600200"/>
            <a:ext cx="1463040" cy="2286000"/>
          </a:xfrm>
          <a:prstGeom prst="roundRect">
            <a:avLst>
              <a:gd name="adj" fmla="val 6250"/>
            </a:avLst>
          </a:prstGeom>
          <a:solidFill>
            <a:schemeClr val="bg2"/>
          </a:solidFill>
          <a:ln w="12700">
            <a:solidFill>
              <a:schemeClr val="bg2"/>
            </a:solidFill>
            <a:prstDash val="solid"/>
          </a:ln>
        </p:spPr>
      </p:sp>
      <p:sp>
        <p:nvSpPr>
          <p:cNvPr id="5" name="Layer 1 badge"/>
          <p:cNvSpPr/>
          <p:nvPr/>
        </p:nvSpPr>
        <p:spPr>
          <a:xfrm>
            <a:off x="868680" y="1783080"/>
            <a:ext cx="640080" cy="640080"/>
          </a:xfrm>
          <a:prstGeom prst="ellipse">
            <a:avLst/>
          </a:prstGeom>
          <a:solidFill>
            <a:schemeClr val="accent1"/>
          </a:solidFill>
          <a:ln w="12700">
            <a:solidFill>
              <a:schemeClr val="accent1"/>
            </a:solidFill>
            <a:prstDash val="solid"/>
          </a:ln>
        </p:spPr>
      </p:sp>
      <p:pic>
        <p:nvPicPr>
          <p:cNvPr id="6" name="Layer 1 icon" descr="Layer 1">    </p:cNvPr>
          <p:cNvPicPr>
            <a:picLocks noChangeAspect="1"/>
          </p:cNvPicPr>
          <p:nvPr/>
        </p:nvPicPr>
        <p:blipFill>
          <a:blip r:embed="rId1"/>
          <a:stretch>
            <a:fillRect/>
          </a:stretch>
        </p:blipFill>
        <p:spPr>
          <a:xfrm>
            <a:off x="1028700" y="1943100"/>
            <a:ext cx="320040" cy="320040"/>
          </a:xfrm>
          <a:prstGeom prst="rect">
            <a:avLst/>
          </a:prstGeom>
        </p:spPr>
      </p:pic>
      <p:sp>
        <p:nvSpPr>
          <p:cNvPr id="7" name="Layer title 1"/>
          <p:cNvSpPr txBox="1"/>
          <p:nvPr/>
        </p:nvSpPr>
        <p:spPr>
          <a:xfrm>
            <a:off x="548640" y="2560320"/>
            <a:ext cx="1280160" cy="320040"/>
          </a:xfrm>
          <a:prstGeom prst="rect">
            <a:avLst/>
          </a:prstGeom>
          <a:noFill/>
          <a:ln/>
        </p:spPr>
        <p:txBody>
          <a:bodyPr wrap="square" lIns="0" tIns="0" rIns="0" bIns="0" rtlCol="0" anchor="t"/>
          <a:lstStyle/>
          <a:p>
            <a:pPr algn="ctr" indent="0" marL="0">
              <a:buNone/>
            </a:pPr>
            <a:r>
              <a:rPr lang="en-US" sz="1600" b="1" dirty="0">
                <a:solidFill>
                  <a:schemeClr val="tx1"/>
                </a:solidFill>
              </a:rPr>
              <a:t>Data</a:t>
            </a:r>
            <a:endParaRPr lang="en-US" sz="1600" dirty="0"/>
          </a:p>
        </p:txBody>
      </p:sp>
      <p:sp>
        <p:nvSpPr>
          <p:cNvPr id="8" name="Layer text 1"/>
          <p:cNvSpPr txBox="1"/>
          <p:nvPr/>
        </p:nvSpPr>
        <p:spPr>
          <a:xfrm>
            <a:off x="566928" y="2926080"/>
            <a:ext cx="1243584" cy="868680"/>
          </a:xfrm>
          <a:prstGeom prst="rect">
            <a:avLst/>
          </a:prstGeom>
          <a:noFill/>
          <a:ln/>
        </p:spPr>
        <p:txBody>
          <a:bodyPr wrap="square" lIns="0" tIns="0" rIns="0" bIns="0" rtlCol="0" anchor="t"/>
          <a:lstStyle/>
          <a:p>
            <a:pPr algn="ctr" indent="0" marL="0">
              <a:buNone/>
            </a:pPr>
            <a:r>
              <a:rPr lang="en-US" sz="1200" dirty="0">
                <a:solidFill>
                  <a:schemeClr val="tx2"/>
                </a:solidFill>
              </a:rPr>
              <a:t>Suppliers, stock, routes, disruption events</a:t>
            </a:r>
            <a:endParaRPr lang="en-US" sz="1200" dirty="0"/>
          </a:p>
        </p:txBody>
      </p:sp>
      <p:sp>
        <p:nvSpPr>
          <p:cNvPr id="9" name="Layer arrow 1"/>
          <p:cNvSpPr/>
          <p:nvPr/>
        </p:nvSpPr>
        <p:spPr>
          <a:xfrm>
            <a:off x="1938528" y="2743200"/>
            <a:ext cx="192024" cy="0"/>
          </a:xfrm>
          <a:prstGeom prst="line">
            <a:avLst/>
          </a:prstGeom>
          <a:noFill/>
          <a:ln w="25400">
            <a:solidFill>
              <a:schemeClr val="accent5"/>
            </a:solidFill>
            <a:prstDash val="solid"/>
            <a:tailEnd type="triangle"/>
          </a:ln>
        </p:spPr>
      </p:sp>
      <p:sp>
        <p:nvSpPr>
          <p:cNvPr id="10" name="Layer 2"/>
          <p:cNvSpPr/>
          <p:nvPr/>
        </p:nvSpPr>
        <p:spPr>
          <a:xfrm>
            <a:off x="2148840" y="1600200"/>
            <a:ext cx="1463040" cy="2286000"/>
          </a:xfrm>
          <a:prstGeom prst="roundRect">
            <a:avLst>
              <a:gd name="adj" fmla="val 6250"/>
            </a:avLst>
          </a:prstGeom>
          <a:solidFill>
            <a:schemeClr val="bg2"/>
          </a:solidFill>
          <a:ln w="12700">
            <a:solidFill>
              <a:schemeClr val="bg2"/>
            </a:solidFill>
            <a:prstDash val="solid"/>
          </a:ln>
        </p:spPr>
      </p:sp>
      <p:sp>
        <p:nvSpPr>
          <p:cNvPr id="11" name="Layer 2 badge"/>
          <p:cNvSpPr/>
          <p:nvPr/>
        </p:nvSpPr>
        <p:spPr>
          <a:xfrm>
            <a:off x="2560320" y="1783080"/>
            <a:ext cx="640080" cy="640080"/>
          </a:xfrm>
          <a:prstGeom prst="ellipse">
            <a:avLst/>
          </a:prstGeom>
          <a:solidFill>
            <a:schemeClr val="accent1"/>
          </a:solidFill>
          <a:ln w="12700">
            <a:solidFill>
              <a:schemeClr val="accent1"/>
            </a:solidFill>
            <a:prstDash val="solid"/>
          </a:ln>
        </p:spPr>
      </p:sp>
      <p:pic>
        <p:nvPicPr>
          <p:cNvPr id="12" name="Layer 2 icon" descr="Layer 2">    </p:cNvPr>
          <p:cNvPicPr>
            <a:picLocks noChangeAspect="1"/>
          </p:cNvPicPr>
          <p:nvPr/>
        </p:nvPicPr>
        <p:blipFill>
          <a:blip r:embed="rId2"/>
          <a:stretch>
            <a:fillRect/>
          </a:stretch>
        </p:blipFill>
        <p:spPr>
          <a:xfrm>
            <a:off x="2720340" y="1943100"/>
            <a:ext cx="320040" cy="320040"/>
          </a:xfrm>
          <a:prstGeom prst="rect">
            <a:avLst/>
          </a:prstGeom>
        </p:spPr>
      </p:pic>
      <p:sp>
        <p:nvSpPr>
          <p:cNvPr id="13" name="Layer title 2"/>
          <p:cNvSpPr txBox="1"/>
          <p:nvPr/>
        </p:nvSpPr>
        <p:spPr>
          <a:xfrm>
            <a:off x="2240280" y="2560320"/>
            <a:ext cx="1280160" cy="320040"/>
          </a:xfrm>
          <a:prstGeom prst="rect">
            <a:avLst/>
          </a:prstGeom>
          <a:noFill/>
          <a:ln/>
        </p:spPr>
        <p:txBody>
          <a:bodyPr wrap="square" lIns="0" tIns="0" rIns="0" bIns="0" rtlCol="0" anchor="t"/>
          <a:lstStyle/>
          <a:p>
            <a:pPr algn="ctr" indent="0" marL="0">
              <a:buNone/>
            </a:pPr>
            <a:r>
              <a:rPr lang="en-US" sz="1600" b="1" dirty="0">
                <a:solidFill>
                  <a:schemeClr val="tx1"/>
                </a:solidFill>
              </a:rPr>
              <a:t>Digital twin</a:t>
            </a:r>
            <a:endParaRPr lang="en-US" sz="1600" dirty="0"/>
          </a:p>
        </p:txBody>
      </p:sp>
      <p:sp>
        <p:nvSpPr>
          <p:cNvPr id="14" name="Layer text 2"/>
          <p:cNvSpPr txBox="1"/>
          <p:nvPr/>
        </p:nvSpPr>
        <p:spPr>
          <a:xfrm>
            <a:off x="2258568" y="2926080"/>
            <a:ext cx="1243584" cy="868680"/>
          </a:xfrm>
          <a:prstGeom prst="rect">
            <a:avLst/>
          </a:prstGeom>
          <a:noFill/>
          <a:ln/>
        </p:spPr>
        <p:txBody>
          <a:bodyPr wrap="square" lIns="0" tIns="0" rIns="0" bIns="0" rtlCol="0" anchor="t"/>
          <a:lstStyle/>
          <a:p>
            <a:pPr algn="ctr" indent="0" marL="0">
              <a:buNone/>
            </a:pPr>
            <a:r>
              <a:rPr lang="en-US" sz="1200" dirty="0">
                <a:solidFill>
                  <a:schemeClr val="tx2"/>
                </a:solidFill>
              </a:rPr>
              <a:t>Network model of the live supply chain</a:t>
            </a:r>
            <a:endParaRPr lang="en-US" sz="1200" dirty="0"/>
          </a:p>
        </p:txBody>
      </p:sp>
      <p:sp>
        <p:nvSpPr>
          <p:cNvPr id="15" name="Layer arrow 2"/>
          <p:cNvSpPr/>
          <p:nvPr/>
        </p:nvSpPr>
        <p:spPr>
          <a:xfrm>
            <a:off x="3630168" y="2743200"/>
            <a:ext cx="192024" cy="0"/>
          </a:xfrm>
          <a:prstGeom prst="line">
            <a:avLst/>
          </a:prstGeom>
          <a:noFill/>
          <a:ln w="25400">
            <a:solidFill>
              <a:schemeClr val="accent5"/>
            </a:solidFill>
            <a:prstDash val="solid"/>
            <a:tailEnd type="triangle"/>
          </a:ln>
        </p:spPr>
      </p:sp>
      <p:sp>
        <p:nvSpPr>
          <p:cNvPr id="16" name="Layer 3"/>
          <p:cNvSpPr/>
          <p:nvPr/>
        </p:nvSpPr>
        <p:spPr>
          <a:xfrm>
            <a:off x="3840480" y="1600200"/>
            <a:ext cx="1463040" cy="2286000"/>
          </a:xfrm>
          <a:prstGeom prst="roundRect">
            <a:avLst>
              <a:gd name="adj" fmla="val 6250"/>
            </a:avLst>
          </a:prstGeom>
          <a:solidFill>
            <a:schemeClr val="bg2"/>
          </a:solidFill>
          <a:ln w="12700">
            <a:solidFill>
              <a:schemeClr val="bg2"/>
            </a:solidFill>
            <a:prstDash val="solid"/>
          </a:ln>
        </p:spPr>
      </p:sp>
      <p:sp>
        <p:nvSpPr>
          <p:cNvPr id="17" name="Layer 3 badge"/>
          <p:cNvSpPr/>
          <p:nvPr/>
        </p:nvSpPr>
        <p:spPr>
          <a:xfrm>
            <a:off x="4251960" y="1783080"/>
            <a:ext cx="640080" cy="640080"/>
          </a:xfrm>
          <a:prstGeom prst="ellipse">
            <a:avLst/>
          </a:prstGeom>
          <a:solidFill>
            <a:schemeClr val="accent1"/>
          </a:solidFill>
          <a:ln w="12700">
            <a:solidFill>
              <a:schemeClr val="accent1"/>
            </a:solidFill>
            <a:prstDash val="solid"/>
          </a:ln>
        </p:spPr>
      </p:sp>
      <p:pic>
        <p:nvPicPr>
          <p:cNvPr id="18" name="Layer 3 icon" descr="Layer 3">    </p:cNvPr>
          <p:cNvPicPr>
            <a:picLocks noChangeAspect="1"/>
          </p:cNvPicPr>
          <p:nvPr/>
        </p:nvPicPr>
        <p:blipFill>
          <a:blip r:embed="rId3"/>
          <a:stretch>
            <a:fillRect/>
          </a:stretch>
        </p:blipFill>
        <p:spPr>
          <a:xfrm>
            <a:off x="4411980" y="1943100"/>
            <a:ext cx="320040" cy="320040"/>
          </a:xfrm>
          <a:prstGeom prst="rect">
            <a:avLst/>
          </a:prstGeom>
        </p:spPr>
      </p:pic>
      <p:sp>
        <p:nvSpPr>
          <p:cNvPr id="19" name="Layer title 3"/>
          <p:cNvSpPr txBox="1"/>
          <p:nvPr/>
        </p:nvSpPr>
        <p:spPr>
          <a:xfrm>
            <a:off x="3931920" y="2560320"/>
            <a:ext cx="1280160" cy="320040"/>
          </a:xfrm>
          <a:prstGeom prst="rect">
            <a:avLst/>
          </a:prstGeom>
          <a:noFill/>
          <a:ln/>
        </p:spPr>
        <p:txBody>
          <a:bodyPr wrap="square" lIns="0" tIns="0" rIns="0" bIns="0" rtlCol="0" anchor="t"/>
          <a:lstStyle/>
          <a:p>
            <a:pPr algn="ctr" indent="0" marL="0">
              <a:buNone/>
            </a:pPr>
            <a:r>
              <a:rPr lang="en-US" sz="1600" b="1" dirty="0">
                <a:solidFill>
                  <a:schemeClr val="tx1"/>
                </a:solidFill>
              </a:rPr>
              <a:t>Impact engine</a:t>
            </a:r>
            <a:endParaRPr lang="en-US" sz="1600" dirty="0"/>
          </a:p>
        </p:txBody>
      </p:sp>
      <p:sp>
        <p:nvSpPr>
          <p:cNvPr id="20" name="Layer text 3"/>
          <p:cNvSpPr txBox="1"/>
          <p:nvPr/>
        </p:nvSpPr>
        <p:spPr>
          <a:xfrm>
            <a:off x="3950208" y="2926080"/>
            <a:ext cx="1243584" cy="868680"/>
          </a:xfrm>
          <a:prstGeom prst="rect">
            <a:avLst/>
          </a:prstGeom>
          <a:noFill/>
          <a:ln/>
        </p:spPr>
        <p:txBody>
          <a:bodyPr wrap="square" lIns="0" tIns="0" rIns="0" bIns="0" rtlCol="0" anchor="t"/>
          <a:lstStyle/>
          <a:p>
            <a:pPr algn="ctr" indent="0" marL="0">
              <a:buNone/>
            </a:pPr>
            <a:r>
              <a:rPr lang="en-US" sz="1200" dirty="0">
                <a:solidFill>
                  <a:schemeClr val="tx2"/>
                </a:solidFill>
              </a:rPr>
              <a:t>Simulates how a disruption spreads</a:t>
            </a:r>
            <a:endParaRPr lang="en-US" sz="1200" dirty="0"/>
          </a:p>
        </p:txBody>
      </p:sp>
      <p:sp>
        <p:nvSpPr>
          <p:cNvPr id="21" name="Layer arrow 3"/>
          <p:cNvSpPr/>
          <p:nvPr/>
        </p:nvSpPr>
        <p:spPr>
          <a:xfrm>
            <a:off x="5321808" y="2743200"/>
            <a:ext cx="192024" cy="0"/>
          </a:xfrm>
          <a:prstGeom prst="line">
            <a:avLst/>
          </a:prstGeom>
          <a:noFill/>
          <a:ln w="25400">
            <a:solidFill>
              <a:schemeClr val="accent5"/>
            </a:solidFill>
            <a:prstDash val="solid"/>
            <a:tailEnd type="triangle"/>
          </a:ln>
        </p:spPr>
      </p:sp>
      <p:sp>
        <p:nvSpPr>
          <p:cNvPr id="22" name="Layer 4"/>
          <p:cNvSpPr/>
          <p:nvPr/>
        </p:nvSpPr>
        <p:spPr>
          <a:xfrm>
            <a:off x="5532120" y="1600200"/>
            <a:ext cx="1463040" cy="2286000"/>
          </a:xfrm>
          <a:prstGeom prst="roundRect">
            <a:avLst>
              <a:gd name="adj" fmla="val 6250"/>
            </a:avLst>
          </a:prstGeom>
          <a:solidFill>
            <a:schemeClr val="bg2"/>
          </a:solidFill>
          <a:ln w="25400">
            <a:solidFill>
              <a:schemeClr val="accent2"/>
            </a:solidFill>
            <a:prstDash val="dash"/>
          </a:ln>
        </p:spPr>
      </p:sp>
      <p:sp>
        <p:nvSpPr>
          <p:cNvPr id="23" name="Layer 4 badge"/>
          <p:cNvSpPr/>
          <p:nvPr/>
        </p:nvSpPr>
        <p:spPr>
          <a:xfrm>
            <a:off x="5943600" y="1783080"/>
            <a:ext cx="640080" cy="640080"/>
          </a:xfrm>
          <a:prstGeom prst="ellipse">
            <a:avLst/>
          </a:prstGeom>
          <a:solidFill>
            <a:schemeClr val="accent2"/>
          </a:solidFill>
          <a:ln w="12700">
            <a:solidFill>
              <a:schemeClr val="accent2"/>
            </a:solidFill>
            <a:prstDash val="solid"/>
          </a:ln>
        </p:spPr>
      </p:sp>
      <p:pic>
        <p:nvPicPr>
          <p:cNvPr id="24" name="Layer 4 icon" descr="Layer 4">    </p:cNvPr>
          <p:cNvPicPr>
            <a:picLocks noChangeAspect="1"/>
          </p:cNvPicPr>
          <p:nvPr/>
        </p:nvPicPr>
        <p:blipFill>
          <a:blip r:embed="rId4"/>
          <a:stretch>
            <a:fillRect/>
          </a:stretch>
        </p:blipFill>
        <p:spPr>
          <a:xfrm>
            <a:off x="6103620" y="1943100"/>
            <a:ext cx="320040" cy="320040"/>
          </a:xfrm>
          <a:prstGeom prst="rect">
            <a:avLst/>
          </a:prstGeom>
        </p:spPr>
      </p:pic>
      <p:sp>
        <p:nvSpPr>
          <p:cNvPr id="25" name="Layer title 4"/>
          <p:cNvSpPr txBox="1"/>
          <p:nvPr/>
        </p:nvSpPr>
        <p:spPr>
          <a:xfrm>
            <a:off x="5623560" y="2560320"/>
            <a:ext cx="1280160" cy="320040"/>
          </a:xfrm>
          <a:prstGeom prst="rect">
            <a:avLst/>
          </a:prstGeom>
          <a:noFill/>
          <a:ln/>
        </p:spPr>
        <p:txBody>
          <a:bodyPr wrap="square" lIns="0" tIns="0" rIns="0" bIns="0" rtlCol="0" anchor="t"/>
          <a:lstStyle/>
          <a:p>
            <a:pPr algn="ctr" indent="0" marL="0">
              <a:buNone/>
            </a:pPr>
            <a:r>
              <a:rPr lang="en-US" sz="1600" b="1" dirty="0">
                <a:solidFill>
                  <a:schemeClr val="tx1"/>
                </a:solidFill>
              </a:rPr>
              <a:t>Optimizer</a:t>
            </a:r>
            <a:endParaRPr lang="en-US" sz="1600" dirty="0"/>
          </a:p>
        </p:txBody>
      </p:sp>
      <p:sp>
        <p:nvSpPr>
          <p:cNvPr id="26" name="Layer text 4"/>
          <p:cNvSpPr txBox="1"/>
          <p:nvPr/>
        </p:nvSpPr>
        <p:spPr>
          <a:xfrm>
            <a:off x="5641848" y="2926080"/>
            <a:ext cx="1243584" cy="868680"/>
          </a:xfrm>
          <a:prstGeom prst="rect">
            <a:avLst/>
          </a:prstGeom>
          <a:noFill/>
          <a:ln/>
        </p:spPr>
        <p:txBody>
          <a:bodyPr wrap="square" lIns="0" tIns="0" rIns="0" bIns="0" rtlCol="0" anchor="t"/>
          <a:lstStyle/>
          <a:p>
            <a:pPr algn="ctr" indent="0" marL="0">
              <a:buNone/>
            </a:pPr>
            <a:r>
              <a:rPr lang="en-US" sz="1200" dirty="0">
                <a:solidFill>
                  <a:schemeClr val="tx2"/>
                </a:solidFill>
              </a:rPr>
              <a:t>Builds, checks and ranks recovery plans</a:t>
            </a:r>
            <a:endParaRPr lang="en-US" sz="1200" dirty="0"/>
          </a:p>
        </p:txBody>
      </p:sp>
      <p:sp>
        <p:nvSpPr>
          <p:cNvPr id="27" name="Layer arrow 4"/>
          <p:cNvSpPr/>
          <p:nvPr/>
        </p:nvSpPr>
        <p:spPr>
          <a:xfrm>
            <a:off x="7013448" y="2743200"/>
            <a:ext cx="192024" cy="0"/>
          </a:xfrm>
          <a:prstGeom prst="line">
            <a:avLst/>
          </a:prstGeom>
          <a:noFill/>
          <a:ln w="25400">
            <a:solidFill>
              <a:schemeClr val="accent5"/>
            </a:solidFill>
            <a:prstDash val="solid"/>
            <a:tailEnd type="triangle"/>
          </a:ln>
        </p:spPr>
      </p:sp>
      <p:sp>
        <p:nvSpPr>
          <p:cNvPr id="28" name="Layer 5"/>
          <p:cNvSpPr/>
          <p:nvPr/>
        </p:nvSpPr>
        <p:spPr>
          <a:xfrm>
            <a:off x="7223760" y="1600200"/>
            <a:ext cx="1463040" cy="2286000"/>
          </a:xfrm>
          <a:prstGeom prst="roundRect">
            <a:avLst>
              <a:gd name="adj" fmla="val 6250"/>
            </a:avLst>
          </a:prstGeom>
          <a:solidFill>
            <a:schemeClr val="bg2"/>
          </a:solidFill>
          <a:ln w="12700">
            <a:solidFill>
              <a:schemeClr val="bg2"/>
            </a:solidFill>
            <a:prstDash val="solid"/>
          </a:ln>
        </p:spPr>
      </p:sp>
      <p:sp>
        <p:nvSpPr>
          <p:cNvPr id="29" name="Layer 5 badge"/>
          <p:cNvSpPr/>
          <p:nvPr/>
        </p:nvSpPr>
        <p:spPr>
          <a:xfrm>
            <a:off x="7635240" y="1783080"/>
            <a:ext cx="640080" cy="640080"/>
          </a:xfrm>
          <a:prstGeom prst="ellipse">
            <a:avLst/>
          </a:prstGeom>
          <a:solidFill>
            <a:schemeClr val="accent1"/>
          </a:solidFill>
          <a:ln w="12700">
            <a:solidFill>
              <a:schemeClr val="accent1"/>
            </a:solidFill>
            <a:prstDash val="solid"/>
          </a:ln>
        </p:spPr>
      </p:sp>
      <p:pic>
        <p:nvPicPr>
          <p:cNvPr id="30" name="Layer 5 icon" descr="Layer 5">    </p:cNvPr>
          <p:cNvPicPr>
            <a:picLocks noChangeAspect="1"/>
          </p:cNvPicPr>
          <p:nvPr/>
        </p:nvPicPr>
        <p:blipFill>
          <a:blip r:embed="rId5"/>
          <a:stretch>
            <a:fillRect/>
          </a:stretch>
        </p:blipFill>
        <p:spPr>
          <a:xfrm>
            <a:off x="7795260" y="1943100"/>
            <a:ext cx="320040" cy="320040"/>
          </a:xfrm>
          <a:prstGeom prst="rect">
            <a:avLst/>
          </a:prstGeom>
        </p:spPr>
      </p:pic>
      <p:sp>
        <p:nvSpPr>
          <p:cNvPr id="31" name="Layer title 5"/>
          <p:cNvSpPr txBox="1"/>
          <p:nvPr/>
        </p:nvSpPr>
        <p:spPr>
          <a:xfrm>
            <a:off x="7315200" y="2560320"/>
            <a:ext cx="1280160" cy="320040"/>
          </a:xfrm>
          <a:prstGeom prst="rect">
            <a:avLst/>
          </a:prstGeom>
          <a:noFill/>
          <a:ln/>
        </p:spPr>
        <p:txBody>
          <a:bodyPr wrap="square" lIns="0" tIns="0" rIns="0" bIns="0" rtlCol="0" anchor="t"/>
          <a:lstStyle/>
          <a:p>
            <a:pPr algn="ctr" indent="0" marL="0">
              <a:buNone/>
            </a:pPr>
            <a:r>
              <a:rPr lang="en-US" sz="1600" b="1" dirty="0">
                <a:solidFill>
                  <a:schemeClr val="tx1"/>
                </a:solidFill>
              </a:rPr>
              <a:t>Dashboard</a:t>
            </a:r>
            <a:endParaRPr lang="en-US" sz="1600" dirty="0"/>
          </a:p>
        </p:txBody>
      </p:sp>
      <p:sp>
        <p:nvSpPr>
          <p:cNvPr id="32" name="Layer text 5"/>
          <p:cNvSpPr txBox="1"/>
          <p:nvPr/>
        </p:nvSpPr>
        <p:spPr>
          <a:xfrm>
            <a:off x="7333488" y="2926080"/>
            <a:ext cx="1243584" cy="868680"/>
          </a:xfrm>
          <a:prstGeom prst="rect">
            <a:avLst/>
          </a:prstGeom>
          <a:noFill/>
          <a:ln/>
        </p:spPr>
        <p:txBody>
          <a:bodyPr wrap="square" lIns="0" tIns="0" rIns="0" bIns="0" rtlCol="0" anchor="t"/>
          <a:lstStyle/>
          <a:p>
            <a:pPr algn="ctr" indent="0" marL="0">
              <a:buNone/>
            </a:pPr>
            <a:r>
              <a:rPr lang="en-US" sz="1200" dirty="0">
                <a:solidFill>
                  <a:schemeClr val="tx2"/>
                </a:solidFill>
              </a:rPr>
              <a:t>Manager reviews plans and decides</a:t>
            </a:r>
            <a:endParaRPr lang="en-US" sz="1200" dirty="0"/>
          </a:p>
        </p:txBody>
      </p:sp>
      <p:sp>
        <p:nvSpPr>
          <p:cNvPr id="33" name="Architecture note"/>
          <p:cNvSpPr/>
          <p:nvPr/>
        </p:nvSpPr>
        <p:spPr>
          <a:xfrm>
            <a:off x="457200" y="4114800"/>
            <a:ext cx="8229600" cy="457200"/>
          </a:xfrm>
          <a:prstGeom prst="roundRect">
            <a:avLst>
              <a:gd name="adj" fmla="val 16000"/>
            </a:avLst>
          </a:prstGeom>
          <a:solidFill>
            <a:schemeClr val="tx1"/>
          </a:solidFill>
          <a:ln w="12700">
            <a:solidFill>
              <a:schemeClr val="tx1"/>
            </a:solidFill>
            <a:prstDash val="solid"/>
          </a:ln>
        </p:spPr>
      </p:sp>
      <p:sp>
        <p:nvSpPr>
          <p:cNvPr id="34" name="Architecture note text"/>
          <p:cNvSpPr txBox="1"/>
          <p:nvPr/>
        </p:nvSpPr>
        <p:spPr>
          <a:xfrm>
            <a:off x="640080" y="4114800"/>
            <a:ext cx="7863840" cy="457200"/>
          </a:xfrm>
          <a:prstGeom prst="rect">
            <a:avLst/>
          </a:prstGeom>
          <a:noFill/>
          <a:ln/>
        </p:spPr>
        <p:txBody>
          <a:bodyPr wrap="square" lIns="0" tIns="0" rIns="0" bIns="0" rtlCol="0" anchor="ctr"/>
          <a:lstStyle/>
          <a:p>
            <a:pPr indent="0" marL="0">
              <a:buNone/>
            </a:pPr>
            <a:r>
              <a:rPr lang="en-US" sz="1400" dirty="0">
                <a:solidFill>
                  <a:schemeClr val="bg1"/>
                </a:solidFill>
              </a:rPr>
              <a:t>Heavy optimization runs in a Web Worker, so the dashboard stays responsive.</a:t>
            </a:r>
            <a:endParaRPr lang="en-US" sz="1400" dirty="0"/>
          </a:p>
        </p:txBody>
      </p:sp>
      <p:sp>
        <p:nvSpPr>
          <p:cNvPr id="25" name="Slide Number Placeholder 0"/>
          <p:cNvSpPr>
            <a:spLocks noGrp="1"/>
          </p:cNvSpPr>
          <p:nvPr>
            <p:ph type="sldNum" sz="quarter" idx="4294967295"/>
          </p:nvPr>
        </p:nvSpPr>
        <p:spPr>
          <a:xfrm>
            <a:off x="8229600" y="473659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7C99"/>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594360"/>
          </a:xfrm>
          <a:prstGeom prst="rect">
            <a:avLst/>
          </a:prstGeom>
          <a:noFill/>
          <a:ln/>
        </p:spPr>
        <p:txBody>
          <a:bodyPr wrap="square" lIns="0" tIns="0" rIns="0" bIns="0" rtlCol="0" anchor="ctr"/>
          <a:lstStyle/>
          <a:p>
            <a:pPr algn="l" indent="0" marL="0">
              <a:buNone/>
            </a:pPr>
            <a:r>
              <a:rPr lang="en-US" sz="3400" b="1" dirty="0">
                <a:solidFill>
                  <a:schemeClr val="tx1"/>
                </a:solidFill>
              </a:rPr>
              <a:t>Optimizer Workflow</a:t>
            </a:r>
            <a:endParaRPr lang="en-US" sz="3400" dirty="0"/>
          </a:p>
        </p:txBody>
      </p:sp>
      <p:sp>
        <p:nvSpPr>
          <p:cNvPr id="3" name="Text 0"/>
          <p:cNvSpPr/>
          <p:nvPr>
            <p:ph idx="101" type="body" hasCustomPrompt="1"/>
          </p:nvPr>
        </p:nvSpPr>
        <p:spPr>
          <a:xfrm>
            <a:off x="457200" y="932688"/>
            <a:ext cx="8229600" cy="365760"/>
          </a:xfrm>
          <a:prstGeom prst="rect">
            <a:avLst/>
          </a:prstGeom>
          <a:noFill/>
          <a:ln/>
        </p:spPr>
        <p:txBody>
          <a:bodyPr wrap="square" lIns="0" tIns="0" rIns="0" bIns="0" rtlCol="0" anchor="t"/>
          <a:lstStyle/>
          <a:p>
            <a:pPr algn="l" indent="0" marL="0">
              <a:buNone/>
            </a:pPr>
            <a:r>
              <a:rPr lang="en-US" sz="1600" dirty="0">
                <a:solidFill>
                  <a:schemeClr val="accent5"/>
                </a:solidFill>
              </a:rPr>
              <a:t>Seven steps turn an impact result into final recovery plans.</a:t>
            </a:r>
            <a:endParaRPr lang="en-US" sz="1600" dirty="0"/>
          </a:p>
        </p:txBody>
      </p:sp>
      <p:sp>
        <p:nvSpPr>
          <p:cNvPr id="4" name="Web Worker frame"/>
          <p:cNvSpPr/>
          <p:nvPr/>
        </p:nvSpPr>
        <p:spPr>
          <a:xfrm>
            <a:off x="1600200" y="1417320"/>
            <a:ext cx="5852160" cy="1783080"/>
          </a:xfrm>
          <a:prstGeom prst="roundRect">
            <a:avLst>
              <a:gd name="adj" fmla="val 5128"/>
            </a:avLst>
          </a:prstGeom>
          <a:ln w="22225">
            <a:solidFill>
              <a:schemeClr val="accent2"/>
            </a:solidFill>
            <a:prstDash val="dash"/>
          </a:ln>
        </p:spPr>
      </p:sp>
      <p:sp>
        <p:nvSpPr>
          <p:cNvPr id="5" name="Web Worker label"/>
          <p:cNvSpPr txBox="1"/>
          <p:nvPr/>
        </p:nvSpPr>
        <p:spPr>
          <a:xfrm>
            <a:off x="1737360" y="1463040"/>
            <a:ext cx="2286000" cy="228600"/>
          </a:xfrm>
          <a:prstGeom prst="rect">
            <a:avLst/>
          </a:prstGeom>
          <a:noFill/>
          <a:ln/>
        </p:spPr>
        <p:txBody>
          <a:bodyPr wrap="square" lIns="0" tIns="0" rIns="0" bIns="0" rtlCol="0" anchor="t"/>
          <a:lstStyle/>
          <a:p>
            <a:pPr indent="0" marL="0">
              <a:buNone/>
            </a:pPr>
            <a:r>
              <a:rPr lang="en-US" sz="1200" b="1" dirty="0">
                <a:solidFill>
                  <a:schemeClr val="accent2"/>
                </a:solidFill>
              </a:rPr>
              <a:t>Runs in a Web Worker</a:t>
            </a:r>
            <a:endParaRPr lang="en-US" sz="1200" dirty="0"/>
          </a:p>
        </p:txBody>
      </p:sp>
      <p:sp>
        <p:nvSpPr>
          <p:cNvPr id="6" name="Workflow line"/>
          <p:cNvSpPr/>
          <p:nvPr/>
        </p:nvSpPr>
        <p:spPr>
          <a:xfrm>
            <a:off x="822960" y="2217420"/>
            <a:ext cx="6858000" cy="0"/>
          </a:xfrm>
          <a:prstGeom prst="line">
            <a:avLst/>
          </a:prstGeom>
          <a:noFill/>
          <a:ln w="25400">
            <a:solidFill>
              <a:schemeClr val="accent6"/>
            </a:solidFill>
            <a:prstDash val="solid"/>
          </a:ln>
        </p:spPr>
      </p:sp>
      <p:sp>
        <p:nvSpPr>
          <p:cNvPr id="7" name="Step 1 badge"/>
          <p:cNvSpPr/>
          <p:nvPr/>
        </p:nvSpPr>
        <p:spPr>
          <a:xfrm>
            <a:off x="822960" y="1965960"/>
            <a:ext cx="502920" cy="502920"/>
          </a:xfrm>
          <a:prstGeom prst="ellipse">
            <a:avLst/>
          </a:prstGeom>
          <a:solidFill>
            <a:schemeClr val="tx1"/>
          </a:solidFill>
          <a:ln w="25400">
            <a:solidFill>
              <a:schemeClr val="bg1"/>
            </a:solidFill>
            <a:prstDash val="solid"/>
          </a:ln>
        </p:spPr>
      </p:sp>
      <p:sp>
        <p:nvSpPr>
          <p:cNvPr id="8" name="Step 1 number"/>
          <p:cNvSpPr txBox="1"/>
          <p:nvPr/>
        </p:nvSpPr>
        <p:spPr>
          <a:xfrm>
            <a:off x="822960" y="19659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Step 1 label"/>
          <p:cNvSpPr txBox="1"/>
          <p:nvPr/>
        </p:nvSpPr>
        <p:spPr>
          <a:xfrm>
            <a:off x="530352" y="2560320"/>
            <a:ext cx="1097280" cy="594360"/>
          </a:xfrm>
          <a:prstGeom prst="rect">
            <a:avLst/>
          </a:prstGeom>
          <a:noFill/>
          <a:ln/>
        </p:spPr>
        <p:txBody>
          <a:bodyPr wrap="square" lIns="0" tIns="0" rIns="0" bIns="0" rtlCol="0" anchor="t"/>
          <a:lstStyle/>
          <a:p>
            <a:pPr algn="ctr" indent="0" marL="0">
              <a:buNone/>
            </a:pPr>
            <a:r>
              <a:rPr lang="en-US" sz="1400" b="1" dirty="0">
                <a:solidFill>
                  <a:schemeClr val="tx1"/>
                </a:solidFill>
              </a:rPr>
              <a:t>Impact result</a:t>
            </a:r>
            <a:endParaRPr lang="en-US" sz="1400" dirty="0"/>
          </a:p>
        </p:txBody>
      </p:sp>
      <p:sp>
        <p:nvSpPr>
          <p:cNvPr id="10" name="Step 2 badge"/>
          <p:cNvSpPr/>
          <p:nvPr/>
        </p:nvSpPr>
        <p:spPr>
          <a:xfrm>
            <a:off x="1965960" y="1965960"/>
            <a:ext cx="502920" cy="502920"/>
          </a:xfrm>
          <a:prstGeom prst="ellipse">
            <a:avLst/>
          </a:prstGeom>
          <a:solidFill>
            <a:schemeClr val="accent1"/>
          </a:solidFill>
          <a:ln w="25400">
            <a:solidFill>
              <a:schemeClr val="bg1"/>
            </a:solidFill>
            <a:prstDash val="solid"/>
          </a:ln>
        </p:spPr>
      </p:sp>
      <p:sp>
        <p:nvSpPr>
          <p:cNvPr id="11" name="Step 2 number"/>
          <p:cNvSpPr txBox="1"/>
          <p:nvPr/>
        </p:nvSpPr>
        <p:spPr>
          <a:xfrm>
            <a:off x="1965960" y="19659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Step 2 label"/>
          <p:cNvSpPr txBox="1"/>
          <p:nvPr/>
        </p:nvSpPr>
        <p:spPr>
          <a:xfrm>
            <a:off x="1673352" y="2560320"/>
            <a:ext cx="1097280" cy="594360"/>
          </a:xfrm>
          <a:prstGeom prst="rect">
            <a:avLst/>
          </a:prstGeom>
          <a:noFill/>
          <a:ln/>
        </p:spPr>
        <p:txBody>
          <a:bodyPr wrap="square" lIns="0" tIns="0" rIns="0" bIns="0" rtlCol="0" anchor="t"/>
          <a:lstStyle/>
          <a:p>
            <a:pPr algn="ctr" indent="0" marL="0">
              <a:buNone/>
            </a:pPr>
            <a:r>
              <a:rPr lang="en-US" sz="1400" b="1" dirty="0">
                <a:solidFill>
                  <a:schemeClr val="tx1"/>
                </a:solidFill>
              </a:rPr>
              <a:t>Generate plans</a:t>
            </a:r>
            <a:endParaRPr lang="en-US" sz="1400" dirty="0"/>
          </a:p>
        </p:txBody>
      </p:sp>
      <p:sp>
        <p:nvSpPr>
          <p:cNvPr id="13" name="Step 3 badge"/>
          <p:cNvSpPr/>
          <p:nvPr/>
        </p:nvSpPr>
        <p:spPr>
          <a:xfrm>
            <a:off x="3108960" y="1965960"/>
            <a:ext cx="502920" cy="502920"/>
          </a:xfrm>
          <a:prstGeom prst="ellipse">
            <a:avLst/>
          </a:prstGeom>
          <a:solidFill>
            <a:schemeClr val="accent1"/>
          </a:solidFill>
          <a:ln w="25400">
            <a:solidFill>
              <a:schemeClr val="bg1"/>
            </a:solidFill>
            <a:prstDash val="solid"/>
          </a:ln>
        </p:spPr>
      </p:sp>
      <p:sp>
        <p:nvSpPr>
          <p:cNvPr id="14" name="Step 3 number"/>
          <p:cNvSpPr txBox="1"/>
          <p:nvPr/>
        </p:nvSpPr>
        <p:spPr>
          <a:xfrm>
            <a:off x="3108960" y="19659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Step 3 label"/>
          <p:cNvSpPr txBox="1"/>
          <p:nvPr/>
        </p:nvSpPr>
        <p:spPr>
          <a:xfrm>
            <a:off x="2816352" y="2560320"/>
            <a:ext cx="1097280" cy="594360"/>
          </a:xfrm>
          <a:prstGeom prst="rect">
            <a:avLst/>
          </a:prstGeom>
          <a:noFill/>
          <a:ln/>
        </p:spPr>
        <p:txBody>
          <a:bodyPr wrap="square" lIns="0" tIns="0" rIns="0" bIns="0" rtlCol="0" anchor="t"/>
          <a:lstStyle/>
          <a:p>
            <a:pPr algn="ctr" indent="0" marL="0">
              <a:buNone/>
            </a:pPr>
            <a:r>
              <a:rPr lang="en-US" sz="1400" b="1" dirty="0">
                <a:solidFill>
                  <a:schemeClr val="tx1"/>
                </a:solidFill>
              </a:rPr>
              <a:t>Check hard limits</a:t>
            </a:r>
            <a:endParaRPr lang="en-US" sz="1400" dirty="0"/>
          </a:p>
        </p:txBody>
      </p:sp>
      <p:sp>
        <p:nvSpPr>
          <p:cNvPr id="16" name="Step 4 badge"/>
          <p:cNvSpPr/>
          <p:nvPr/>
        </p:nvSpPr>
        <p:spPr>
          <a:xfrm>
            <a:off x="4251960" y="1965960"/>
            <a:ext cx="502920" cy="502920"/>
          </a:xfrm>
          <a:prstGeom prst="ellipse">
            <a:avLst/>
          </a:prstGeom>
          <a:solidFill>
            <a:schemeClr val="accent1"/>
          </a:solidFill>
          <a:ln w="25400">
            <a:solidFill>
              <a:schemeClr val="bg1"/>
            </a:solidFill>
            <a:prstDash val="solid"/>
          </a:ln>
        </p:spPr>
      </p:sp>
      <p:sp>
        <p:nvSpPr>
          <p:cNvPr id="17" name="Step 4 number"/>
          <p:cNvSpPr txBox="1"/>
          <p:nvPr/>
        </p:nvSpPr>
        <p:spPr>
          <a:xfrm>
            <a:off x="4251960" y="19659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8" name="Step 4 label"/>
          <p:cNvSpPr txBox="1"/>
          <p:nvPr/>
        </p:nvSpPr>
        <p:spPr>
          <a:xfrm>
            <a:off x="3959352" y="2560320"/>
            <a:ext cx="1097280" cy="594360"/>
          </a:xfrm>
          <a:prstGeom prst="rect">
            <a:avLst/>
          </a:prstGeom>
          <a:noFill/>
          <a:ln/>
        </p:spPr>
        <p:txBody>
          <a:bodyPr wrap="square" lIns="0" tIns="0" rIns="0" bIns="0" rtlCol="0" anchor="t"/>
          <a:lstStyle/>
          <a:p>
            <a:pPr algn="ctr" indent="0" marL="0">
              <a:buNone/>
            </a:pPr>
            <a:r>
              <a:rPr lang="en-US" sz="1400" b="1" dirty="0">
                <a:solidFill>
                  <a:schemeClr val="tx1"/>
                </a:solidFill>
              </a:rPr>
              <a:t>Score plans</a:t>
            </a:r>
            <a:endParaRPr lang="en-US" sz="1400" dirty="0"/>
          </a:p>
        </p:txBody>
      </p:sp>
      <p:sp>
        <p:nvSpPr>
          <p:cNvPr id="19" name="Step 5 badge"/>
          <p:cNvSpPr/>
          <p:nvPr/>
        </p:nvSpPr>
        <p:spPr>
          <a:xfrm>
            <a:off x="5394960" y="1965960"/>
            <a:ext cx="502920" cy="502920"/>
          </a:xfrm>
          <a:prstGeom prst="ellipse">
            <a:avLst/>
          </a:prstGeom>
          <a:solidFill>
            <a:schemeClr val="accent1"/>
          </a:solidFill>
          <a:ln w="25400">
            <a:solidFill>
              <a:schemeClr val="bg1"/>
            </a:solidFill>
            <a:prstDash val="solid"/>
          </a:ln>
        </p:spPr>
      </p:sp>
      <p:sp>
        <p:nvSpPr>
          <p:cNvPr id="20" name="Step 5 number"/>
          <p:cNvSpPr txBox="1"/>
          <p:nvPr/>
        </p:nvSpPr>
        <p:spPr>
          <a:xfrm>
            <a:off x="5394960" y="19659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1" name="Step 5 label"/>
          <p:cNvSpPr txBox="1"/>
          <p:nvPr/>
        </p:nvSpPr>
        <p:spPr>
          <a:xfrm>
            <a:off x="5102352" y="2560320"/>
            <a:ext cx="1097280" cy="594360"/>
          </a:xfrm>
          <a:prstGeom prst="rect">
            <a:avLst/>
          </a:prstGeom>
          <a:noFill/>
          <a:ln/>
        </p:spPr>
        <p:txBody>
          <a:bodyPr wrap="square" lIns="0" tIns="0" rIns="0" bIns="0" rtlCol="0" anchor="t"/>
          <a:lstStyle/>
          <a:p>
            <a:pPr algn="ctr" indent="0" marL="0">
              <a:buNone/>
            </a:pPr>
            <a:r>
              <a:rPr lang="en-US" sz="1400" b="1" dirty="0">
                <a:solidFill>
                  <a:schemeClr val="tx1"/>
                </a:solidFill>
              </a:rPr>
              <a:t>Check loss limits</a:t>
            </a:r>
            <a:endParaRPr lang="en-US" sz="1400" dirty="0"/>
          </a:p>
        </p:txBody>
      </p:sp>
      <p:sp>
        <p:nvSpPr>
          <p:cNvPr id="22" name="Step 6 badge"/>
          <p:cNvSpPr/>
          <p:nvPr/>
        </p:nvSpPr>
        <p:spPr>
          <a:xfrm>
            <a:off x="6537960" y="1965960"/>
            <a:ext cx="502920" cy="502920"/>
          </a:xfrm>
          <a:prstGeom prst="ellipse">
            <a:avLst/>
          </a:prstGeom>
          <a:solidFill>
            <a:schemeClr val="accent1"/>
          </a:solidFill>
          <a:ln w="25400">
            <a:solidFill>
              <a:schemeClr val="bg1"/>
            </a:solidFill>
            <a:prstDash val="solid"/>
          </a:ln>
        </p:spPr>
      </p:sp>
      <p:sp>
        <p:nvSpPr>
          <p:cNvPr id="23" name="Step 6 number"/>
          <p:cNvSpPr txBox="1"/>
          <p:nvPr/>
        </p:nvSpPr>
        <p:spPr>
          <a:xfrm>
            <a:off x="6537960" y="19659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4" name="Step 6 label"/>
          <p:cNvSpPr txBox="1"/>
          <p:nvPr/>
        </p:nvSpPr>
        <p:spPr>
          <a:xfrm>
            <a:off x="6245352" y="2560320"/>
            <a:ext cx="1097280" cy="594360"/>
          </a:xfrm>
          <a:prstGeom prst="rect">
            <a:avLst/>
          </a:prstGeom>
          <a:noFill/>
          <a:ln/>
        </p:spPr>
        <p:txBody>
          <a:bodyPr wrap="square" lIns="0" tIns="0" rIns="0" bIns="0" rtlCol="0" anchor="t"/>
          <a:lstStyle/>
          <a:p>
            <a:pPr algn="ctr" indent="0" marL="0">
              <a:buNone/>
            </a:pPr>
            <a:r>
              <a:rPr lang="en-US" sz="1400" b="1" dirty="0">
                <a:solidFill>
                  <a:schemeClr val="tx1"/>
                </a:solidFill>
              </a:rPr>
              <a:t>Add backup plans</a:t>
            </a:r>
            <a:endParaRPr lang="en-US" sz="1400" dirty="0"/>
          </a:p>
        </p:txBody>
      </p:sp>
      <p:sp>
        <p:nvSpPr>
          <p:cNvPr id="25" name="Step 7 badge"/>
          <p:cNvSpPr/>
          <p:nvPr/>
        </p:nvSpPr>
        <p:spPr>
          <a:xfrm>
            <a:off x="7680960" y="1965960"/>
            <a:ext cx="502920" cy="502920"/>
          </a:xfrm>
          <a:prstGeom prst="ellipse">
            <a:avLst/>
          </a:prstGeom>
          <a:solidFill>
            <a:schemeClr val="tx1"/>
          </a:solidFill>
          <a:ln w="25400">
            <a:solidFill>
              <a:schemeClr val="bg1"/>
            </a:solidFill>
            <a:prstDash val="solid"/>
          </a:ln>
        </p:spPr>
      </p:sp>
      <p:sp>
        <p:nvSpPr>
          <p:cNvPr id="26" name="Step 7 number"/>
          <p:cNvSpPr txBox="1"/>
          <p:nvPr/>
        </p:nvSpPr>
        <p:spPr>
          <a:xfrm>
            <a:off x="7680960" y="19659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27" name="Step 7 label"/>
          <p:cNvSpPr txBox="1"/>
          <p:nvPr/>
        </p:nvSpPr>
        <p:spPr>
          <a:xfrm>
            <a:off x="7388352" y="2560320"/>
            <a:ext cx="1097280" cy="594360"/>
          </a:xfrm>
          <a:prstGeom prst="rect">
            <a:avLst/>
          </a:prstGeom>
          <a:noFill/>
          <a:ln/>
        </p:spPr>
        <p:txBody>
          <a:bodyPr wrap="square" lIns="0" tIns="0" rIns="0" bIns="0" rtlCol="0" anchor="t"/>
          <a:lstStyle/>
          <a:p>
            <a:pPr algn="ctr" indent="0" marL="0">
              <a:buNone/>
            </a:pPr>
            <a:r>
              <a:rPr lang="en-US" sz="1400" b="1" dirty="0">
                <a:solidFill>
                  <a:schemeClr val="tx1"/>
                </a:solidFill>
              </a:rPr>
              <a:t>Rank and output</a:t>
            </a:r>
            <a:endParaRPr lang="en-US" sz="1400" dirty="0"/>
          </a:p>
        </p:txBody>
      </p:sp>
      <p:sp>
        <p:nvSpPr>
          <p:cNvPr id="28" name="Callout 1"/>
          <p:cNvSpPr/>
          <p:nvPr/>
        </p:nvSpPr>
        <p:spPr>
          <a:xfrm>
            <a:off x="457200" y="3429000"/>
            <a:ext cx="4023360" cy="1188720"/>
          </a:xfrm>
          <a:prstGeom prst="roundRect">
            <a:avLst>
              <a:gd name="adj" fmla="val 7692"/>
            </a:avLst>
          </a:prstGeom>
          <a:solidFill>
            <a:schemeClr val="bg2"/>
          </a:solidFill>
          <a:ln w="12700">
            <a:solidFill>
              <a:schemeClr val="bg2"/>
            </a:solidFill>
            <a:prstDash val="solid"/>
          </a:ln>
        </p:spPr>
      </p:sp>
      <p:sp>
        <p:nvSpPr>
          <p:cNvPr id="29" name="Callout 1 badge"/>
          <p:cNvSpPr/>
          <p:nvPr/>
        </p:nvSpPr>
        <p:spPr>
          <a:xfrm>
            <a:off x="640080" y="3611880"/>
            <a:ext cx="457200" cy="457200"/>
          </a:xfrm>
          <a:prstGeom prst="ellipse">
            <a:avLst/>
          </a:prstGeom>
          <a:solidFill>
            <a:schemeClr val="accent3"/>
          </a:solidFill>
          <a:ln w="12700">
            <a:solidFill>
              <a:schemeClr val="accent3"/>
            </a:solidFill>
            <a:prstDash val="solid"/>
          </a:ln>
        </p:spPr>
      </p:sp>
      <p:pic>
        <p:nvPicPr>
          <p:cNvPr id="30" name="Callout 1 icon" descr="Callout 1">    </p:cNvPr>
          <p:cNvPicPr>
            <a:picLocks noChangeAspect="1"/>
          </p:cNvPicPr>
          <p:nvPr/>
        </p:nvPicPr>
        <p:blipFill>
          <a:blip r:embed="rId1"/>
          <a:stretch>
            <a:fillRect/>
          </a:stretch>
        </p:blipFill>
        <p:spPr>
          <a:xfrm>
            <a:off x="754380" y="3726180"/>
            <a:ext cx="228600" cy="228600"/>
          </a:xfrm>
          <a:prstGeom prst="rect">
            <a:avLst/>
          </a:prstGeom>
        </p:spPr>
      </p:pic>
      <p:sp>
        <p:nvSpPr>
          <p:cNvPr id="31" name="Callout title 1"/>
          <p:cNvSpPr txBox="1"/>
          <p:nvPr/>
        </p:nvSpPr>
        <p:spPr>
          <a:xfrm>
            <a:off x="1234440" y="3547872"/>
            <a:ext cx="3108960" cy="365760"/>
          </a:xfrm>
          <a:prstGeom prst="rect">
            <a:avLst/>
          </a:prstGeom>
          <a:noFill/>
          <a:ln/>
        </p:spPr>
        <p:txBody>
          <a:bodyPr wrap="square" lIns="0" tIns="0" rIns="0" bIns="0" rtlCol="0" anchor="ctr"/>
          <a:lstStyle/>
          <a:p>
            <a:pPr indent="0" marL="0">
              <a:buNone/>
            </a:pPr>
            <a:r>
              <a:rPr lang="en-US" sz="1600" b="1" dirty="0">
                <a:solidFill>
                  <a:schemeClr val="tx1"/>
                </a:solidFill>
              </a:rPr>
              <a:t>Plans can be rejected</a:t>
            </a:r>
            <a:endParaRPr lang="en-US" sz="1600" dirty="0"/>
          </a:p>
        </p:txBody>
      </p:sp>
      <p:sp>
        <p:nvSpPr>
          <p:cNvPr id="32" name="Callout text 1"/>
          <p:cNvSpPr txBox="1"/>
          <p:nvPr/>
        </p:nvSpPr>
        <p:spPr>
          <a:xfrm>
            <a:off x="1234440" y="3913632"/>
            <a:ext cx="3108960" cy="658368"/>
          </a:xfrm>
          <a:prstGeom prst="rect">
            <a:avLst/>
          </a:prstGeom>
          <a:noFill/>
          <a:ln/>
        </p:spPr>
        <p:txBody>
          <a:bodyPr wrap="square" lIns="0" tIns="0" rIns="0" bIns="0" rtlCol="0" anchor="t"/>
          <a:lstStyle/>
          <a:p>
            <a:pPr indent="0" marL="0">
              <a:buNone/>
            </a:pPr>
            <a:r>
              <a:rPr lang="en-US" sz="1200" dirty="0">
                <a:solidFill>
                  <a:schemeClr val="tx2"/>
                </a:solidFill>
              </a:rPr>
              <a:t>A plan that breaks a hard limit (capacity, stock or routes) is dropped and never ranked, however good its score.</a:t>
            </a:r>
            <a:endParaRPr lang="en-US" sz="1200" dirty="0"/>
          </a:p>
        </p:txBody>
      </p:sp>
      <p:sp>
        <p:nvSpPr>
          <p:cNvPr id="33" name="Callout 2"/>
          <p:cNvSpPr/>
          <p:nvPr/>
        </p:nvSpPr>
        <p:spPr>
          <a:xfrm>
            <a:off x="4663440" y="3429000"/>
            <a:ext cx="4023360" cy="1188720"/>
          </a:xfrm>
          <a:prstGeom prst="roundRect">
            <a:avLst>
              <a:gd name="adj" fmla="val 7692"/>
            </a:avLst>
          </a:prstGeom>
          <a:solidFill>
            <a:schemeClr val="bg2"/>
          </a:solidFill>
          <a:ln w="12700">
            <a:solidFill>
              <a:schemeClr val="bg2"/>
            </a:solidFill>
            <a:prstDash val="solid"/>
          </a:ln>
        </p:spPr>
      </p:sp>
      <p:sp>
        <p:nvSpPr>
          <p:cNvPr id="34" name="Callout 2 badge"/>
          <p:cNvSpPr/>
          <p:nvPr/>
        </p:nvSpPr>
        <p:spPr>
          <a:xfrm>
            <a:off x="4846320" y="3611880"/>
            <a:ext cx="457200" cy="457200"/>
          </a:xfrm>
          <a:prstGeom prst="ellipse">
            <a:avLst/>
          </a:prstGeom>
          <a:solidFill>
            <a:schemeClr val="accent1"/>
          </a:solidFill>
          <a:ln w="12700">
            <a:solidFill>
              <a:schemeClr val="accent1"/>
            </a:solidFill>
            <a:prstDash val="solid"/>
          </a:ln>
        </p:spPr>
      </p:sp>
      <p:pic>
        <p:nvPicPr>
          <p:cNvPr id="35" name="Callout 2 icon" descr="Callout 2">    </p:cNvPr>
          <p:cNvPicPr>
            <a:picLocks noChangeAspect="1"/>
          </p:cNvPicPr>
          <p:nvPr/>
        </p:nvPicPr>
        <p:blipFill>
          <a:blip r:embed="rId2"/>
          <a:stretch>
            <a:fillRect/>
          </a:stretch>
        </p:blipFill>
        <p:spPr>
          <a:xfrm>
            <a:off x="4960620" y="3726180"/>
            <a:ext cx="228600" cy="228600"/>
          </a:xfrm>
          <a:prstGeom prst="rect">
            <a:avLst/>
          </a:prstGeom>
        </p:spPr>
      </p:pic>
      <p:sp>
        <p:nvSpPr>
          <p:cNvPr id="36" name="Callout title 2"/>
          <p:cNvSpPr txBox="1"/>
          <p:nvPr/>
        </p:nvSpPr>
        <p:spPr>
          <a:xfrm>
            <a:off x="5440680" y="3547872"/>
            <a:ext cx="3108960" cy="365760"/>
          </a:xfrm>
          <a:prstGeom prst="rect">
            <a:avLst/>
          </a:prstGeom>
          <a:noFill/>
          <a:ln/>
        </p:spPr>
        <p:txBody>
          <a:bodyPr wrap="square" lIns="0" tIns="0" rIns="0" bIns="0" rtlCol="0" anchor="ctr"/>
          <a:lstStyle/>
          <a:p>
            <a:pPr indent="0" marL="0">
              <a:buNone/>
            </a:pPr>
            <a:r>
              <a:rPr lang="en-US" sz="1600" b="1" dirty="0">
                <a:solidFill>
                  <a:schemeClr val="tx1"/>
                </a:solidFill>
              </a:rPr>
              <a:t>Backup plans come second</a:t>
            </a:r>
            <a:endParaRPr lang="en-US" sz="1600" dirty="0"/>
          </a:p>
        </p:txBody>
      </p:sp>
      <p:sp>
        <p:nvSpPr>
          <p:cNvPr id="37" name="Callout text 2"/>
          <p:cNvSpPr txBox="1"/>
          <p:nvPr/>
        </p:nvSpPr>
        <p:spPr>
          <a:xfrm>
            <a:off x="5440680" y="3913632"/>
            <a:ext cx="3108960" cy="658368"/>
          </a:xfrm>
          <a:prstGeom prst="rect">
            <a:avLst/>
          </a:prstGeom>
          <a:noFill/>
          <a:ln/>
        </p:spPr>
        <p:txBody>
          <a:bodyPr wrap="square" lIns="0" tIns="0" rIns="0" bIns="0" rtlCol="0" anchor="t"/>
          <a:lstStyle/>
          <a:p>
            <a:pPr indent="0" marL="0">
              <a:buNone/>
            </a:pPr>
            <a:r>
              <a:rPr lang="en-US" sz="1200" dirty="0">
                <a:solidFill>
                  <a:schemeClr val="tx2"/>
                </a:solidFill>
              </a:rPr>
              <a:t>Backup-supplier plans are added only when the manager's loss limits are breached, and the steps then re-run.</a:t>
            </a:r>
            <a:endParaRPr lang="en-US" sz="1200" dirty="0"/>
          </a:p>
        </p:txBody>
      </p:sp>
      <p:sp>
        <p:nvSpPr>
          <p:cNvPr id="25" name="Slide Number Placeholder 0"/>
          <p:cNvSpPr>
            <a:spLocks noGrp="1"/>
          </p:cNvSpPr>
          <p:nvPr>
            <p:ph type="sldNum" sz="quarter" idx="4294967295"/>
          </p:nvPr>
        </p:nvSpPr>
        <p:spPr>
          <a:xfrm>
            <a:off x="8229600" y="473659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7C99"/>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594360"/>
          </a:xfrm>
          <a:prstGeom prst="rect">
            <a:avLst/>
          </a:prstGeom>
          <a:noFill/>
          <a:ln/>
        </p:spPr>
        <p:txBody>
          <a:bodyPr wrap="square" lIns="0" tIns="0" rIns="0" bIns="0" rtlCol="0" anchor="ctr"/>
          <a:lstStyle/>
          <a:p>
            <a:pPr algn="l" indent="0" marL="0">
              <a:buNone/>
            </a:pPr>
            <a:r>
              <a:rPr lang="en-US" sz="3400" b="1" dirty="0">
                <a:solidFill>
                  <a:schemeClr val="bg1"/>
                </a:solidFill>
              </a:rPr>
              <a:t>Conclusion</a:t>
            </a:r>
            <a:endParaRPr lang="en-US" sz="3400" dirty="0"/>
          </a:p>
        </p:txBody>
      </p:sp>
      <p:sp>
        <p:nvSpPr>
          <p:cNvPr id="3" name="Text 0"/>
          <p:cNvSpPr/>
          <p:nvPr>
            <p:ph idx="101" type="body" hasCustomPrompt="1"/>
          </p:nvPr>
        </p:nvSpPr>
        <p:spPr>
          <a:xfrm>
            <a:off x="457200" y="932688"/>
            <a:ext cx="8229600" cy="365760"/>
          </a:xfrm>
          <a:prstGeom prst="rect">
            <a:avLst/>
          </a:prstGeom>
          <a:noFill/>
          <a:ln/>
        </p:spPr>
        <p:txBody>
          <a:bodyPr wrap="square" lIns="0" tIns="0" rIns="0" bIns="0" rtlCol="0" anchor="t"/>
          <a:lstStyle/>
          <a:p>
            <a:pPr algn="l" indent="0" marL="0">
              <a:buNone/>
            </a:pPr>
            <a:r>
              <a:rPr lang="en-US" sz="1600" dirty="0">
                <a:solidFill>
                  <a:schemeClr val="accent6"/>
                </a:solidFill>
              </a:rPr>
              <a:t>From disruption to a decision the manager can trust.</a:t>
            </a:r>
            <a:endParaRPr lang="en-US" sz="1600" dirty="0"/>
          </a:p>
        </p:txBody>
      </p:sp>
      <p:sp>
        <p:nvSpPr>
          <p:cNvPr id="4" name="Takeaway 1 badge"/>
          <p:cNvSpPr/>
          <p:nvPr/>
        </p:nvSpPr>
        <p:spPr>
          <a:xfrm>
            <a:off x="457200" y="1691640"/>
            <a:ext cx="548640" cy="548640"/>
          </a:xfrm>
          <a:prstGeom prst="ellipse">
            <a:avLst/>
          </a:prstGeom>
          <a:solidFill>
            <a:schemeClr val="accent1"/>
          </a:solidFill>
          <a:ln w="12700">
            <a:solidFill>
              <a:schemeClr val="accent1"/>
            </a:solidFill>
            <a:prstDash val="solid"/>
          </a:ln>
        </p:spPr>
      </p:sp>
      <p:sp>
        <p:nvSpPr>
          <p:cNvPr id="5" name="Takeaway 1 number"/>
          <p:cNvSpPr txBox="1"/>
          <p:nvPr/>
        </p:nvSpPr>
        <p:spPr>
          <a:xfrm>
            <a:off x="457200" y="16916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akeaway 1 text"/>
          <p:cNvSpPr txBox="1"/>
          <p:nvPr/>
        </p:nvSpPr>
        <p:spPr>
          <a:xfrm>
            <a:off x="1188720" y="1600200"/>
            <a:ext cx="4114800" cy="777240"/>
          </a:xfrm>
          <a:prstGeom prst="rect">
            <a:avLst/>
          </a:prstGeom>
          <a:noFill/>
          <a:ln/>
        </p:spPr>
        <p:txBody>
          <a:bodyPr wrap="square" lIns="0" tIns="0" rIns="0" bIns="0" rtlCol="0" anchor="ctr"/>
          <a:lstStyle/>
          <a:p>
            <a:pPr indent="0" marL="0">
              <a:buNone/>
            </a:pPr>
            <a:r>
              <a:rPr lang="en-US" sz="1800" b="1" dirty="0">
                <a:solidFill>
                  <a:schemeClr val="bg1"/>
                </a:solidFill>
              </a:rPr>
              <a:t>Problem</a:t>
            </a:r>
            <a:endParaRPr lang="en-US" sz="1800" dirty="0"/>
          </a:p>
          <a:p>
            <a:pPr indent="0" marL="0">
              <a:buNone/>
            </a:pPr>
            <a:r>
              <a:rPr lang="en-US" sz="1400" dirty="0">
                <a:solidFill>
                  <a:schemeClr val="accent6"/>
                </a:solidFill>
              </a:rPr>
              <a:t>Disruptions cascade unseen and recovery plans are made by hand.</a:t>
            </a:r>
            <a:endParaRPr lang="en-US" sz="1800" dirty="0"/>
          </a:p>
        </p:txBody>
      </p:sp>
      <p:sp>
        <p:nvSpPr>
          <p:cNvPr id="7" name="Takeaway 2 badge"/>
          <p:cNvSpPr/>
          <p:nvPr/>
        </p:nvSpPr>
        <p:spPr>
          <a:xfrm>
            <a:off x="457200" y="2697480"/>
            <a:ext cx="548640" cy="548640"/>
          </a:xfrm>
          <a:prstGeom prst="ellipse">
            <a:avLst/>
          </a:prstGeom>
          <a:solidFill>
            <a:schemeClr val="accent1"/>
          </a:solidFill>
          <a:ln w="12700">
            <a:solidFill>
              <a:schemeClr val="accent1"/>
            </a:solidFill>
            <a:prstDash val="solid"/>
          </a:ln>
        </p:spPr>
      </p:sp>
      <p:sp>
        <p:nvSpPr>
          <p:cNvPr id="8" name="Takeaway 2 number"/>
          <p:cNvSpPr txBox="1"/>
          <p:nvPr/>
        </p:nvSpPr>
        <p:spPr>
          <a:xfrm>
            <a:off x="457200" y="26974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9" name="Takeaway 2 text"/>
          <p:cNvSpPr txBox="1"/>
          <p:nvPr/>
        </p:nvSpPr>
        <p:spPr>
          <a:xfrm>
            <a:off x="1188720" y="2606040"/>
            <a:ext cx="4114800" cy="777240"/>
          </a:xfrm>
          <a:prstGeom prst="rect">
            <a:avLst/>
          </a:prstGeom>
          <a:noFill/>
          <a:ln/>
        </p:spPr>
        <p:txBody>
          <a:bodyPr wrap="square" lIns="0" tIns="0" rIns="0" bIns="0" rtlCol="0" anchor="ctr"/>
          <a:lstStyle/>
          <a:p>
            <a:pPr indent="0" marL="0">
              <a:buNone/>
            </a:pPr>
            <a:r>
              <a:rPr lang="en-US" sz="1800" b="1" dirty="0">
                <a:solidFill>
                  <a:schemeClr val="bg1"/>
                </a:solidFill>
              </a:rPr>
              <a:t>Solution</a:t>
            </a:r>
            <a:endParaRPr lang="en-US" sz="1800" dirty="0"/>
          </a:p>
          <a:p>
            <a:pPr indent="0" marL="0">
              <a:buNone/>
            </a:pPr>
            <a:r>
              <a:rPr lang="en-US" sz="1400" dirty="0">
                <a:solidFill>
                  <a:schemeClr val="accent6"/>
                </a:solidFill>
              </a:rPr>
              <a:t>A digital twin that simulates impact and optimizes recovery.</a:t>
            </a:r>
            <a:endParaRPr lang="en-US" sz="1800" dirty="0"/>
          </a:p>
        </p:txBody>
      </p:sp>
      <p:sp>
        <p:nvSpPr>
          <p:cNvPr id="10" name="Takeaway 3 badge"/>
          <p:cNvSpPr/>
          <p:nvPr/>
        </p:nvSpPr>
        <p:spPr>
          <a:xfrm>
            <a:off x="457200" y="3703320"/>
            <a:ext cx="548640" cy="548640"/>
          </a:xfrm>
          <a:prstGeom prst="ellipse">
            <a:avLst/>
          </a:prstGeom>
          <a:solidFill>
            <a:schemeClr val="accent1"/>
          </a:solidFill>
          <a:ln w="12700">
            <a:solidFill>
              <a:schemeClr val="accent1"/>
            </a:solidFill>
            <a:prstDash val="solid"/>
          </a:ln>
        </p:spPr>
      </p:sp>
      <p:sp>
        <p:nvSpPr>
          <p:cNvPr id="11" name="Takeaway 3 number"/>
          <p:cNvSpPr txBox="1"/>
          <p:nvPr/>
        </p:nvSpPr>
        <p:spPr>
          <a:xfrm>
            <a:off x="457200" y="37033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2" name="Takeaway 3 text"/>
          <p:cNvSpPr txBox="1"/>
          <p:nvPr/>
        </p:nvSpPr>
        <p:spPr>
          <a:xfrm>
            <a:off x="1188720" y="3611880"/>
            <a:ext cx="4114800" cy="777240"/>
          </a:xfrm>
          <a:prstGeom prst="rect">
            <a:avLst/>
          </a:prstGeom>
          <a:noFill/>
          <a:ln/>
        </p:spPr>
        <p:txBody>
          <a:bodyPr wrap="square" lIns="0" tIns="0" rIns="0" bIns="0" rtlCol="0" anchor="ctr"/>
          <a:lstStyle/>
          <a:p>
            <a:pPr indent="0" marL="0">
              <a:buNone/>
            </a:pPr>
            <a:r>
              <a:rPr lang="en-US" sz="1800" b="1" dirty="0">
                <a:solidFill>
                  <a:schemeClr val="bg1"/>
                </a:solidFill>
              </a:rPr>
              <a:t>Result</a:t>
            </a:r>
            <a:endParaRPr lang="en-US" sz="1800" dirty="0"/>
          </a:p>
          <a:p>
            <a:pPr indent="0" marL="0">
              <a:buNone/>
            </a:pPr>
            <a:r>
              <a:rPr lang="en-US" sz="1400" dirty="0">
                <a:solidFill>
                  <a:schemeClr val="accent6"/>
                </a:solidFill>
              </a:rPr>
              <a:t>Ranked plans that respect every hard limit and the manager's loss limits.</a:t>
            </a:r>
            <a:endParaRPr lang="en-US" sz="1800" dirty="0"/>
          </a:p>
        </p:txBody>
      </p:sp>
      <p:sp>
        <p:nvSpPr>
          <p:cNvPr id="13" name="Future scope card"/>
          <p:cNvSpPr/>
          <p:nvPr/>
        </p:nvSpPr>
        <p:spPr>
          <a:xfrm>
            <a:off x="5669280" y="1600200"/>
            <a:ext cx="3017520" cy="2468880"/>
          </a:xfrm>
          <a:prstGeom prst="roundRect">
            <a:avLst>
              <a:gd name="adj" fmla="val 3704"/>
            </a:avLst>
          </a:prstGeom>
          <a:solidFill>
            <a:schemeClr val="tx2"/>
          </a:solidFill>
          <a:ln w="12700">
            <a:solidFill>
              <a:schemeClr val="tx2"/>
            </a:solidFill>
            <a:prstDash val="solid"/>
          </a:ln>
        </p:spPr>
      </p:sp>
      <p:sp>
        <p:nvSpPr>
          <p:cNvPr id="14" name="Future scope title"/>
          <p:cNvSpPr txBox="1"/>
          <p:nvPr/>
        </p:nvSpPr>
        <p:spPr>
          <a:xfrm>
            <a:off x="5943600" y="1783080"/>
            <a:ext cx="2468880" cy="365760"/>
          </a:xfrm>
          <a:prstGeom prst="rect">
            <a:avLst/>
          </a:prstGeom>
          <a:noFill/>
          <a:ln/>
        </p:spPr>
        <p:txBody>
          <a:bodyPr wrap="square" lIns="0" tIns="0" rIns="0" bIns="0" rtlCol="0" anchor="t"/>
          <a:lstStyle/>
          <a:p>
            <a:pPr indent="0" marL="0">
              <a:buNone/>
            </a:pPr>
            <a:r>
              <a:rPr lang="en-US" sz="1800" b="1" dirty="0">
                <a:solidFill>
                  <a:schemeClr val="accent2"/>
                </a:solidFill>
              </a:rPr>
              <a:t>Future scope</a:t>
            </a:r>
            <a:endParaRPr lang="en-US" sz="1800" dirty="0"/>
          </a:p>
        </p:txBody>
      </p:sp>
      <p:sp>
        <p:nvSpPr>
          <p:cNvPr id="15" name="Future scope list"/>
          <p:cNvSpPr txBox="1"/>
          <p:nvPr/>
        </p:nvSpPr>
        <p:spPr>
          <a:xfrm>
            <a:off x="5943600" y="2286000"/>
            <a:ext cx="2514600" cy="19202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Connect live supplier data</a:t>
            </a:r>
            <a:endParaRPr lang="en-US" sz="1400" dirty="0"/>
          </a:p>
          <a:p>
            <a:pPr marL="342900" indent="-342900">
              <a:spcAft>
                <a:spcPts val="800"/>
              </a:spcAft>
              <a:buSzPct val="100000"/>
              <a:buChar char="•"/>
            </a:pPr>
            <a:r>
              <a:rPr lang="en-US" sz="1400" dirty="0">
                <a:solidFill>
                  <a:schemeClr val="bg1"/>
                </a:solidFill>
              </a:rPr>
              <a:t>Add more disruption types</a:t>
            </a:r>
            <a:endParaRPr lang="en-US" sz="1400" dirty="0"/>
          </a:p>
          <a:p>
            <a:pPr marL="342900" indent="-342900">
              <a:buSzPct val="100000"/>
              <a:buChar char="•"/>
            </a:pPr>
            <a:r>
              <a:rPr lang="en-US" sz="1400" dirty="0">
                <a:solidFill>
                  <a:schemeClr val="bg1"/>
                </a:solidFill>
              </a:rPr>
              <a:t>Pilot with a real supply chain manager</a:t>
            </a:r>
            <a:endParaRPr lang="en-US" sz="1400" dirty="0"/>
          </a:p>
        </p:txBody>
      </p:sp>
      <p:sp>
        <p:nvSpPr>
          <p:cNvPr id="25" name="Slide Number Placeholder 0"/>
          <p:cNvSpPr>
            <a:spLocks noGrp="1"/>
          </p:cNvSpPr>
          <p:nvPr>
            <p:ph type="sldNum" sz="quarter" idx="4294967295"/>
          </p:nvPr>
        </p:nvSpPr>
        <p:spPr>
          <a:xfrm>
            <a:off x="8229600" y="473659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B8C9"/>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ChainTwin">
  <a:themeElements>
    <a:clrScheme name="ChainTwin">
      <a:dk1>
        <a:srgbClr val="0B1F33"/>
      </a:dk1>
      <a:lt1>
        <a:srgbClr val="FFFFFF"/>
      </a:lt1>
      <a:dk2>
        <a:srgbClr val="12324F"/>
      </a:dk2>
      <a:lt2>
        <a:srgbClr val="EEF3F7"/>
      </a:lt2>
      <a:accent1>
        <a:srgbClr val="0FA3B1"/>
      </a:accent1>
      <a:accent2>
        <a:srgbClr val="F2A541"/>
      </a:accent2>
      <a:accent3>
        <a:srgbClr val="D64550"/>
      </a:accent3>
      <a:accent4>
        <a:srgbClr val="2E7D5B"/>
      </a:accent4>
      <a:accent5>
        <a:srgbClr val="5B7C99"/>
      </a:accent5>
      <a:accent6>
        <a:srgbClr val="8FB8C9"/>
      </a:accent6>
      <a:hlink>
        <a:srgbClr val="0FA3B1"/>
      </a:hlink>
      <a:folHlink>
        <a:srgbClr val="5B7C99"/>
      </a:folHlink>
    </a:clrScheme>
    <a:fontScheme name="ChainTwi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ChainTwin</dc:title>
  <dc:subject>PptxGenJS Presentation</dc:subject>
  <dc:creator>PptxGenJS</dc:creator>
  <cp:lastModifiedBy>PptxGenJS</cp:lastModifiedBy>
  <cp:revision>1</cp:revision>
  <dcterms:created xsi:type="dcterms:W3CDTF">2026-10-31T08:15:04Z</dcterms:created>
  <dcterms:modified xsi:type="dcterms:W3CDTF">2026-10-31T08:15:04Z</dcterms:modified>
</cp:coreProperties>
</file>